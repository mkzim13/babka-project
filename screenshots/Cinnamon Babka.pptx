
<file path=[Content_Types].xml><?xml version="1.0" encoding="utf-8"?>
<Types xmlns="http://schemas.openxmlformats.org/package/2006/content-types">
  <Default ContentType="application/x-fontdata" Extension="fntdata"/>
  <Default ContentType="image/jpeg" Extension="jpe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3004800" cy="7315200"/>
  <p:notesSz cx="6858000" cy="9144000"/>
  <p:embeddedFontLst>
    <p:embeddedFont>
      <p:font typeface="Canva Sans Bold" charset="1" panose="020B0803030501040103"/>
      <p:regular r:id="rId19"/>
    </p:embeddedFont>
    <p:embeddedFont>
      <p:font typeface="Archivo Black" charset="1" panose="020B0A03020202020B04"/>
      <p:regular r:id="rId20"/>
    </p:embeddedFont>
    <p:embeddedFont>
      <p:font typeface="Hammersmith One" charset="1" panose="02010703030501060504"/>
      <p:regular r:id="rId21"/>
    </p:embeddedFont>
    <p:embeddedFont>
      <p:font typeface="HK Grotesk Medium" charset="1" panose="00000600000000000000"/>
      <p:regular r:id="rId22"/>
    </p:embeddedFont>
    <p:embeddedFont>
      <p:font typeface="HK Grotesk" charset="1" panose="00000500000000000000"/>
      <p:regular r:id="rId23"/>
    </p:embeddedFont>
    <p:embeddedFont>
      <p:font typeface="HK Grotesk Bold" charset="1" panose="00000800000000000000"/>
      <p:regular r:id="rId24"/>
    </p:embeddedFont>
    <p:embeddedFont>
      <p:font typeface="HK Grotesk Semi-Bold" charset="1" panose="00000700000000000000"/>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slide13.xml" Type="http://schemas.openxmlformats.org/officeDocument/2006/relationships/slide"/><Relationship Id="rId3" Target="../media/image3.jpeg" Type="http://schemas.openxmlformats.org/officeDocument/2006/relationships/image"/><Relationship Id="rId4" Target="../media/image4.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 Id="rId3" Target="slide12.xml" Type="http://schemas.openxmlformats.org/officeDocument/2006/relationships/slid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slide1.xml" Type="http://schemas.openxmlformats.org/officeDocument/2006/relationships/slide"/><Relationship Id="rId3" Target="slide13.xml" Type="http://schemas.openxmlformats.org/officeDocument/2006/relationships/slide"/><Relationship Id="rId4" Target="../media/image7.jpeg" Type="http://schemas.openxmlformats.org/officeDocument/2006/relationships/image"/><Relationship Id="rId5" Target="../media/image8.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slide1.xml" Type="http://schemas.openxmlformats.org/officeDocument/2006/relationships/slide"/><Relationship Id="rId3" Target="slide13.xml" Type="http://schemas.openxmlformats.org/officeDocument/2006/relationships/slide"/><Relationship Id="rId4" Target="../media/image9.jpeg" Type="http://schemas.openxmlformats.org/officeDocument/2006/relationships/image"/><Relationship Id="rId5" Target="../media/image10.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slide13.xml" Type="http://schemas.openxmlformats.org/officeDocument/2006/relationships/slide"/><Relationship Id="rId3" Target="../media/image11.jpeg" Type="http://schemas.openxmlformats.org/officeDocument/2006/relationships/image"/><Relationship Id="rId4" Target="../media/image12.jpeg" Type="http://schemas.openxmlformats.org/officeDocument/2006/relationships/image"/><Relationship Id="rId5" Target="../media/image13.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slide13.xml" Type="http://schemas.openxmlformats.org/officeDocument/2006/relationships/slide"/><Relationship Id="rId3" Target="../media/image14.jpeg" Type="http://schemas.openxmlformats.org/officeDocument/2006/relationships/image"/><Relationship Id="rId4" Target="../media/image15.jpeg" Type="http://schemas.openxmlformats.org/officeDocument/2006/relationships/image"/><Relationship Id="rId5" Target="../media/image16.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jpeg" Type="http://schemas.openxmlformats.org/officeDocument/2006/relationships/image"/><Relationship Id="rId3" Target="../media/image18.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3011150" cy="7315200"/>
          </a:xfrm>
          <a:custGeom>
            <a:avLst/>
            <a:gdLst/>
            <a:ahLst/>
            <a:cxnLst/>
            <a:rect r="r" b="b" t="t" l="l"/>
            <a:pathLst>
              <a:path h="7315200" w="13011150">
                <a:moveTo>
                  <a:pt x="0" y="0"/>
                </a:moveTo>
                <a:lnTo>
                  <a:pt x="13011150" y="0"/>
                </a:lnTo>
                <a:lnTo>
                  <a:pt x="13011150" y="7315200"/>
                </a:lnTo>
                <a:lnTo>
                  <a:pt x="0" y="7315200"/>
                </a:lnTo>
                <a:lnTo>
                  <a:pt x="0" y="0"/>
                </a:lnTo>
                <a:close/>
              </a:path>
            </a:pathLst>
          </a:custGeom>
          <a:blipFill>
            <a:blip r:embed="rId2"/>
            <a:stretch>
              <a:fillRect l="0" t="-16618" r="0" b="-16618"/>
            </a:stretch>
          </a:blipFill>
        </p:spPr>
      </p:sp>
      <p:grpSp>
        <p:nvGrpSpPr>
          <p:cNvPr name="Group 3" id="3"/>
          <p:cNvGrpSpPr/>
          <p:nvPr/>
        </p:nvGrpSpPr>
        <p:grpSpPr>
          <a:xfrm rot="0">
            <a:off x="2804758" y="2293746"/>
            <a:ext cx="7401634" cy="2727709"/>
            <a:chOff x="0" y="0"/>
            <a:chExt cx="9868846" cy="3636945"/>
          </a:xfrm>
        </p:grpSpPr>
        <p:sp>
          <p:nvSpPr>
            <p:cNvPr name="TextBox 4" id="4"/>
            <p:cNvSpPr txBox="true"/>
            <p:nvPr/>
          </p:nvSpPr>
          <p:spPr>
            <a:xfrm rot="0">
              <a:off x="0" y="361950"/>
              <a:ext cx="9868846" cy="2846654"/>
            </a:xfrm>
            <a:prstGeom prst="rect">
              <a:avLst/>
            </a:prstGeom>
          </p:spPr>
          <p:txBody>
            <a:bodyPr anchor="t" rtlCol="false" tIns="0" lIns="0" bIns="0" rIns="0">
              <a:spAutoFit/>
            </a:bodyPr>
            <a:lstStyle/>
            <a:p>
              <a:pPr algn="ctr">
                <a:lnSpc>
                  <a:spcPts val="7596"/>
                </a:lnSpc>
              </a:pPr>
              <a:r>
                <a:rPr lang="en-US" sz="9496" b="true">
                  <a:solidFill>
                    <a:srgbClr val="FFFFFF"/>
                  </a:solidFill>
                  <a:latin typeface="Canva Sans Bold"/>
                  <a:ea typeface="Canva Sans Bold"/>
                  <a:cs typeface="Canva Sans Bold"/>
                  <a:sym typeface="Canva Sans Bold"/>
                </a:rPr>
                <a:t>Cinnamon </a:t>
              </a:r>
            </a:p>
            <a:p>
              <a:pPr algn="ctr">
                <a:lnSpc>
                  <a:spcPts val="7596"/>
                </a:lnSpc>
              </a:pPr>
              <a:r>
                <a:rPr lang="en-US" sz="9496" b="true">
                  <a:solidFill>
                    <a:srgbClr val="FFFFFF"/>
                  </a:solidFill>
                  <a:latin typeface="Canva Sans Bold"/>
                  <a:ea typeface="Canva Sans Bold"/>
                  <a:cs typeface="Canva Sans Bold"/>
                  <a:sym typeface="Canva Sans Bold"/>
                </a:rPr>
                <a:t>Babka</a:t>
              </a:r>
            </a:p>
          </p:txBody>
        </p:sp>
        <p:sp>
          <p:nvSpPr>
            <p:cNvPr name="TextBox 5" id="5"/>
            <p:cNvSpPr txBox="true"/>
            <p:nvPr/>
          </p:nvSpPr>
          <p:spPr>
            <a:xfrm rot="0">
              <a:off x="0" y="3217845"/>
              <a:ext cx="9868846" cy="419100"/>
            </a:xfrm>
            <a:prstGeom prst="rect">
              <a:avLst/>
            </a:prstGeom>
          </p:spPr>
          <p:txBody>
            <a:bodyPr anchor="t" rtlCol="false" tIns="0" lIns="0" bIns="0" rIns="0">
              <a:spAutoFit/>
            </a:bodyPr>
            <a:lstStyle/>
            <a:p>
              <a:pPr algn="ctr" marL="0" indent="0" lvl="0">
                <a:lnSpc>
                  <a:spcPts val="2477"/>
                </a:lnSpc>
                <a:spcBef>
                  <a:spcPct val="0"/>
                </a:spcBef>
              </a:pPr>
              <a:r>
                <a:rPr lang="en-US" sz="2064">
                  <a:solidFill>
                    <a:srgbClr val="FFFFFF"/>
                  </a:solidFill>
                  <a:latin typeface="Archivo Black"/>
                  <a:ea typeface="Archivo Black"/>
                  <a:cs typeface="Archivo Black"/>
                  <a:sym typeface="Archivo Black"/>
                </a:rPr>
                <a:t>for the beginning baker</a:t>
              </a: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5F5EF"/>
        </a:solidFill>
      </p:bgPr>
    </p:bg>
    <p:spTree>
      <p:nvGrpSpPr>
        <p:cNvPr id="1" name=""/>
        <p:cNvGrpSpPr/>
        <p:nvPr/>
      </p:nvGrpSpPr>
      <p:grpSpPr>
        <a:xfrm>
          <a:off x="0" y="0"/>
          <a:ext cx="0" cy="0"/>
          <a:chOff x="0" y="0"/>
          <a:chExt cx="0" cy="0"/>
        </a:xfrm>
      </p:grpSpPr>
      <p:sp>
        <p:nvSpPr>
          <p:cNvPr name="Freeform 2" id="2"/>
          <p:cNvSpPr/>
          <p:nvPr/>
        </p:nvSpPr>
        <p:spPr>
          <a:xfrm flipH="false" flipV="false" rot="0">
            <a:off x="731520" y="1985450"/>
            <a:ext cx="2737534" cy="3344299"/>
          </a:xfrm>
          <a:custGeom>
            <a:avLst/>
            <a:gdLst/>
            <a:ahLst/>
            <a:cxnLst/>
            <a:rect r="r" b="b" t="t" l="l"/>
            <a:pathLst>
              <a:path h="3344299" w="2737534">
                <a:moveTo>
                  <a:pt x="0" y="0"/>
                </a:moveTo>
                <a:lnTo>
                  <a:pt x="2737534" y="0"/>
                </a:lnTo>
                <a:lnTo>
                  <a:pt x="2737534" y="3344300"/>
                </a:lnTo>
                <a:lnTo>
                  <a:pt x="0" y="3344300"/>
                </a:lnTo>
                <a:lnTo>
                  <a:pt x="0" y="0"/>
                </a:lnTo>
                <a:close/>
              </a:path>
            </a:pathLst>
          </a:custGeom>
          <a:blipFill>
            <a:blip r:embed="rId2"/>
            <a:stretch>
              <a:fillRect l="0" t="-4637" r="0" b="-4637"/>
            </a:stretch>
          </a:blipFill>
          <a:ln w="9525" cap="sq">
            <a:solidFill>
              <a:srgbClr val="000000"/>
            </a:solidFill>
            <a:prstDash val="solid"/>
            <a:miter/>
          </a:ln>
        </p:spPr>
      </p:sp>
      <p:grpSp>
        <p:nvGrpSpPr>
          <p:cNvPr name="Group 3" id="3"/>
          <p:cNvGrpSpPr/>
          <p:nvPr/>
        </p:nvGrpSpPr>
        <p:grpSpPr>
          <a:xfrm rot="0">
            <a:off x="4373245" y="484637"/>
            <a:ext cx="7906385" cy="6345927"/>
            <a:chOff x="0" y="0"/>
            <a:chExt cx="10541847" cy="8461236"/>
          </a:xfrm>
        </p:grpSpPr>
        <p:sp>
          <p:nvSpPr>
            <p:cNvPr name="TextBox 4" id="4"/>
            <p:cNvSpPr txBox="true"/>
            <p:nvPr/>
          </p:nvSpPr>
          <p:spPr>
            <a:xfrm rot="0">
              <a:off x="0" y="-66675"/>
              <a:ext cx="10541847" cy="773642"/>
            </a:xfrm>
            <a:prstGeom prst="rect">
              <a:avLst/>
            </a:prstGeom>
          </p:spPr>
          <p:txBody>
            <a:bodyPr anchor="t" rtlCol="false" tIns="0" lIns="0" bIns="0" rIns="0">
              <a:spAutoFit/>
            </a:bodyPr>
            <a:lstStyle/>
            <a:p>
              <a:pPr algn="l">
                <a:lnSpc>
                  <a:spcPts val="4900"/>
                </a:lnSpc>
              </a:pPr>
              <a:r>
                <a:rPr lang="en-US" sz="3500">
                  <a:solidFill>
                    <a:srgbClr val="000000"/>
                  </a:solidFill>
                  <a:latin typeface="Hammersmith One"/>
                  <a:ea typeface="Hammersmith One"/>
                  <a:cs typeface="Hammersmith One"/>
                  <a:sym typeface="Hammersmith One"/>
                </a:rPr>
                <a:t>BABKA</a:t>
              </a:r>
            </a:p>
          </p:txBody>
        </p:sp>
        <p:sp>
          <p:nvSpPr>
            <p:cNvPr name="TextBox 5" id="5"/>
            <p:cNvSpPr txBox="true"/>
            <p:nvPr/>
          </p:nvSpPr>
          <p:spPr>
            <a:xfrm rot="0">
              <a:off x="0" y="989402"/>
              <a:ext cx="10541847" cy="7471833"/>
            </a:xfrm>
            <a:prstGeom prst="rect">
              <a:avLst/>
            </a:prstGeom>
          </p:spPr>
          <p:txBody>
            <a:bodyPr anchor="t" rtlCol="false" tIns="0" lIns="0" bIns="0" rIns="0">
              <a:spAutoFit/>
            </a:bodyPr>
            <a:lstStyle/>
            <a:p>
              <a:pPr algn="l">
                <a:lnSpc>
                  <a:spcPts val="2520"/>
                </a:lnSpc>
              </a:pPr>
              <a:r>
                <a:rPr lang="en-US" sz="1800" b="true">
                  <a:solidFill>
                    <a:srgbClr val="000000"/>
                  </a:solidFill>
                  <a:latin typeface="HK Grotesk Medium"/>
                  <a:ea typeface="HK Grotesk Medium"/>
                  <a:cs typeface="HK Grotesk Medium"/>
                  <a:sym typeface="HK Grotesk Medium"/>
                </a:rPr>
                <a:t>A b</a:t>
              </a:r>
              <a:r>
                <a:rPr lang="en-US" sz="1800">
                  <a:solidFill>
                    <a:srgbClr val="000000"/>
                  </a:solidFill>
                  <a:latin typeface="HK Grotesk"/>
                  <a:ea typeface="HK Grotesk"/>
                  <a:cs typeface="HK Grotesk"/>
                  <a:sym typeface="HK Grotesk"/>
                </a:rPr>
                <a:t>abka is a sweet, yeast-risen bread that is made by rolling out dough, spreading it with a sweet filling, and then rolled up and braided before being baked.  Babkas originated in Poland and the Jewish communities of Eastern Europe as a way to use up extra challah dough.  The extra dough was rolled out, spread with a fruit filling or cinnamon, and then shaped and baked alongside the challah.  </a:t>
              </a:r>
            </a:p>
            <a:p>
              <a:pPr algn="l">
                <a:lnSpc>
                  <a:spcPts val="2520"/>
                </a:lnSpc>
              </a:pPr>
            </a:p>
            <a:p>
              <a:pPr algn="l">
                <a:lnSpc>
                  <a:spcPts val="2520"/>
                </a:lnSpc>
              </a:pPr>
              <a:r>
                <a:rPr lang="en-US" sz="1800">
                  <a:solidFill>
                    <a:srgbClr val="000000"/>
                  </a:solidFill>
                  <a:latin typeface="HK Grotesk"/>
                  <a:ea typeface="HK Grotesk"/>
                  <a:cs typeface="HK Grotesk"/>
                  <a:sym typeface="HK Grotesk"/>
                </a:rPr>
                <a:t>In the mid-19th century, babkas began to appear in European-style bakeries in Israel before being brought to the United States by Jewish immigrants.  Here, new babka fillings such as poppy seed and chocolate began to appear.  By the 1970's babkas became famous in the Ashkanazi communities in New York City, and the loaves began to take on the appearance of a braided loaf, rather than the flatter, more rectangular versions common in Israel.  </a:t>
              </a:r>
            </a:p>
            <a:p>
              <a:pPr algn="l">
                <a:lnSpc>
                  <a:spcPts val="2520"/>
                </a:lnSpc>
              </a:pPr>
            </a:p>
            <a:p>
              <a:pPr algn="l">
                <a:lnSpc>
                  <a:spcPts val="2520"/>
                </a:lnSpc>
              </a:pPr>
              <a:r>
                <a:rPr lang="en-US" sz="1800">
                  <a:solidFill>
                    <a:srgbClr val="000000"/>
                  </a:solidFill>
                  <a:latin typeface="HK Grotesk"/>
                  <a:ea typeface="HK Grotesk"/>
                  <a:cs typeface="HK Grotesk"/>
                  <a:sym typeface="HK Grotesk"/>
                </a:rPr>
                <a:t>Today, the babka continues to rise in popularity throughout the United States, and can be found in most Jewish-American bakeries.</a:t>
              </a:r>
            </a:p>
            <a:p>
              <a:pPr algn="l">
                <a:lnSpc>
                  <a:spcPts val="2380"/>
                </a:lnSpc>
              </a:pPr>
            </a:p>
            <a:p>
              <a:pPr algn="l">
                <a:lnSpc>
                  <a:spcPts val="2380"/>
                </a:lnSpc>
              </a:pP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5F5EF"/>
        </a:solidFill>
      </p:bgPr>
    </p:bg>
    <p:spTree>
      <p:nvGrpSpPr>
        <p:cNvPr id="1" name=""/>
        <p:cNvGrpSpPr/>
        <p:nvPr/>
      </p:nvGrpSpPr>
      <p:grpSpPr>
        <a:xfrm>
          <a:off x="0" y="0"/>
          <a:ext cx="0" cy="0"/>
          <a:chOff x="0" y="0"/>
          <a:chExt cx="0" cy="0"/>
        </a:xfrm>
      </p:grpSpPr>
      <p:grpSp>
        <p:nvGrpSpPr>
          <p:cNvPr name="Group 2" id="2"/>
          <p:cNvGrpSpPr/>
          <p:nvPr/>
        </p:nvGrpSpPr>
        <p:grpSpPr>
          <a:xfrm rot="0">
            <a:off x="4176794" y="141700"/>
            <a:ext cx="7826770" cy="6744072"/>
            <a:chOff x="0" y="0"/>
            <a:chExt cx="10435693" cy="8992096"/>
          </a:xfrm>
        </p:grpSpPr>
        <p:sp>
          <p:nvSpPr>
            <p:cNvPr name="TextBox 3" id="3"/>
            <p:cNvSpPr txBox="true"/>
            <p:nvPr/>
          </p:nvSpPr>
          <p:spPr>
            <a:xfrm rot="0">
              <a:off x="0" y="-66675"/>
              <a:ext cx="10435693" cy="773642"/>
            </a:xfrm>
            <a:prstGeom prst="rect">
              <a:avLst/>
            </a:prstGeom>
          </p:spPr>
          <p:txBody>
            <a:bodyPr anchor="t" rtlCol="false" tIns="0" lIns="0" bIns="0" rIns="0">
              <a:spAutoFit/>
            </a:bodyPr>
            <a:lstStyle/>
            <a:p>
              <a:pPr algn="l">
                <a:lnSpc>
                  <a:spcPts val="4900"/>
                </a:lnSpc>
              </a:pPr>
              <a:r>
                <a:rPr lang="en-US" sz="3500">
                  <a:solidFill>
                    <a:srgbClr val="000000"/>
                  </a:solidFill>
                  <a:latin typeface="Hammersmith One"/>
                  <a:ea typeface="Hammersmith One"/>
                  <a:cs typeface="Hammersmith One"/>
                  <a:sym typeface="Hammersmith One"/>
                </a:rPr>
                <a:t>GET STARTED</a:t>
              </a:r>
            </a:p>
          </p:txBody>
        </p:sp>
        <p:sp>
          <p:nvSpPr>
            <p:cNvPr name="TextBox 4" id="4"/>
            <p:cNvSpPr txBox="true"/>
            <p:nvPr/>
          </p:nvSpPr>
          <p:spPr>
            <a:xfrm rot="0">
              <a:off x="0" y="998927"/>
              <a:ext cx="10435693" cy="7993169"/>
            </a:xfrm>
            <a:prstGeom prst="rect">
              <a:avLst/>
            </a:prstGeom>
          </p:spPr>
          <p:txBody>
            <a:bodyPr anchor="t" rtlCol="false" tIns="0" lIns="0" bIns="0" rIns="0">
              <a:spAutoFit/>
            </a:bodyPr>
            <a:lstStyle/>
            <a:p>
              <a:pPr algn="l">
                <a:lnSpc>
                  <a:spcPts val="2380"/>
                </a:lnSpc>
              </a:pPr>
              <a:r>
                <a:rPr lang="en-US" sz="1700" b="true">
                  <a:solidFill>
                    <a:srgbClr val="000000"/>
                  </a:solidFill>
                  <a:latin typeface="HK Grotesk Medium"/>
                  <a:ea typeface="HK Grotesk Medium"/>
                  <a:cs typeface="HK Grotesk Medium"/>
                  <a:sym typeface="HK Grotesk Medium"/>
                </a:rPr>
                <a:t>B</a:t>
              </a:r>
              <a:r>
                <a:rPr lang="en-US" sz="1700">
                  <a:solidFill>
                    <a:srgbClr val="000000"/>
                  </a:solidFill>
                  <a:latin typeface="HK Grotesk"/>
                  <a:ea typeface="HK Grotesk"/>
                  <a:cs typeface="HK Grotesk"/>
                  <a:sym typeface="HK Grotesk"/>
                </a:rPr>
                <a:t>abkas are delicious, visually impressive and look complicated to make.  However, with a few standard kitchen tools and patience, a babka can easily be made by a beginning baker.  Most of the ingredients can be found right in your pantry!  Once you feel comfortable with this recipe, you can vary the filling to anything you want, from poppy seeds to chocolate...your imagination is the only limit.</a:t>
              </a:r>
            </a:p>
            <a:p>
              <a:pPr algn="l">
                <a:lnSpc>
                  <a:spcPts val="2380"/>
                </a:lnSpc>
              </a:pPr>
            </a:p>
            <a:p>
              <a:pPr algn="l">
                <a:lnSpc>
                  <a:spcPts val="2380"/>
                </a:lnSpc>
              </a:pPr>
              <a:r>
                <a:rPr lang="en-US" sz="1700">
                  <a:solidFill>
                    <a:srgbClr val="000000"/>
                  </a:solidFill>
                  <a:latin typeface="HK Grotesk"/>
                  <a:ea typeface="HK Grotesk"/>
                  <a:cs typeface="HK Grotesk"/>
                  <a:sym typeface="HK Grotesk"/>
                </a:rPr>
                <a:t>Now, it’s time to make a cinnamon babka.  Before you start, make sure you have the right equipment.  You will need:</a:t>
              </a:r>
            </a:p>
            <a:p>
              <a:pPr algn="l">
                <a:lnSpc>
                  <a:spcPts val="2380"/>
                </a:lnSpc>
              </a:pPr>
            </a:p>
            <a:p>
              <a:pPr algn="l" marL="367031" indent="-183515" lvl="1">
                <a:lnSpc>
                  <a:spcPts val="2380"/>
                </a:lnSpc>
                <a:buFont typeface="Arial"/>
                <a:buChar char="•"/>
              </a:pPr>
              <a:r>
                <a:rPr lang="en-US" sz="1700">
                  <a:solidFill>
                    <a:srgbClr val="000000"/>
                  </a:solidFill>
                  <a:latin typeface="HK Grotesk"/>
                  <a:ea typeface="HK Grotesk"/>
                  <a:cs typeface="HK Grotesk"/>
                  <a:sym typeface="HK Grotesk"/>
                </a:rPr>
                <a:t>Standard electric mixer with dough hook</a:t>
              </a:r>
            </a:p>
            <a:p>
              <a:pPr algn="l" marL="367031" indent="-183515" lvl="1">
                <a:lnSpc>
                  <a:spcPts val="2380"/>
                </a:lnSpc>
                <a:buFont typeface="Arial"/>
                <a:buChar char="•"/>
              </a:pPr>
              <a:r>
                <a:rPr lang="en-US" sz="1700">
                  <a:solidFill>
                    <a:srgbClr val="000000"/>
                  </a:solidFill>
                  <a:latin typeface="HK Grotesk"/>
                  <a:ea typeface="HK Grotesk"/>
                  <a:cs typeface="HK Grotesk"/>
                  <a:sym typeface="HK Grotesk"/>
                </a:rPr>
                <a:t>Medium bowl</a:t>
              </a:r>
            </a:p>
            <a:p>
              <a:pPr algn="l" marL="367031" indent="-183515" lvl="1">
                <a:lnSpc>
                  <a:spcPts val="2380"/>
                </a:lnSpc>
                <a:buFont typeface="Arial"/>
                <a:buChar char="•"/>
              </a:pPr>
              <a:r>
                <a:rPr lang="en-US" sz="1700">
                  <a:solidFill>
                    <a:srgbClr val="000000"/>
                  </a:solidFill>
                  <a:latin typeface="HK Grotesk"/>
                  <a:ea typeface="HK Grotesk"/>
                  <a:cs typeface="HK Grotesk"/>
                  <a:sym typeface="HK Grotesk"/>
                </a:rPr>
                <a:t>Large bowl</a:t>
              </a:r>
            </a:p>
            <a:p>
              <a:pPr algn="l" marL="367031" indent="-183515" lvl="1">
                <a:lnSpc>
                  <a:spcPts val="2380"/>
                </a:lnSpc>
                <a:buFont typeface="Arial"/>
                <a:buChar char="•"/>
              </a:pPr>
              <a:r>
                <a:rPr lang="en-US" sz="1700">
                  <a:solidFill>
                    <a:srgbClr val="000000"/>
                  </a:solidFill>
                  <a:latin typeface="HK Grotesk"/>
                  <a:ea typeface="HK Grotesk"/>
                  <a:cs typeface="HK Grotesk"/>
                  <a:sym typeface="HK Grotesk"/>
                </a:rPr>
                <a:t>Rolling pin</a:t>
              </a:r>
            </a:p>
            <a:p>
              <a:pPr algn="l" marL="367031" indent="-183515" lvl="1">
                <a:lnSpc>
                  <a:spcPts val="2380"/>
                </a:lnSpc>
                <a:buFont typeface="Arial"/>
                <a:buChar char="•"/>
              </a:pPr>
              <a:r>
                <a:rPr lang="en-US" sz="1700" u="sng">
                  <a:solidFill>
                    <a:srgbClr val="000000"/>
                  </a:solidFill>
                  <a:latin typeface="HK Grotesk"/>
                  <a:ea typeface="HK Grotesk"/>
                  <a:cs typeface="HK Grotesk"/>
                  <a:sym typeface="HK Grotesk"/>
                  <a:hlinkClick r:id="rId2" action="ppaction://hlinksldjump"/>
                </a:rPr>
                <a:t>Offset spatula</a:t>
              </a:r>
            </a:p>
            <a:p>
              <a:pPr algn="l" marL="367031" indent="-183515" lvl="1">
                <a:lnSpc>
                  <a:spcPts val="2380"/>
                </a:lnSpc>
                <a:buFont typeface="Arial"/>
                <a:buChar char="•"/>
              </a:pPr>
              <a:r>
                <a:rPr lang="en-US" sz="1700">
                  <a:solidFill>
                    <a:srgbClr val="000000"/>
                  </a:solidFill>
                  <a:latin typeface="HK Grotesk"/>
                  <a:ea typeface="HK Grotesk"/>
                  <a:cs typeface="HK Grotesk"/>
                  <a:sym typeface="HK Grotesk"/>
                </a:rPr>
                <a:t>Large kitchen knife or bench scraper</a:t>
              </a:r>
            </a:p>
            <a:p>
              <a:pPr algn="l" marL="367031" indent="-183515" lvl="1">
                <a:lnSpc>
                  <a:spcPts val="2380"/>
                </a:lnSpc>
                <a:buFont typeface="Arial"/>
                <a:buChar char="•"/>
              </a:pPr>
              <a:r>
                <a:rPr lang="en-US" sz="1700">
                  <a:solidFill>
                    <a:srgbClr val="000000"/>
                  </a:solidFill>
                  <a:latin typeface="HK Grotesk"/>
                  <a:ea typeface="HK Grotesk"/>
                  <a:cs typeface="HK Grotesk"/>
                  <a:sym typeface="HK Grotesk"/>
                </a:rPr>
                <a:t>Nonstick cooking spray</a:t>
              </a:r>
            </a:p>
            <a:p>
              <a:pPr algn="l">
                <a:lnSpc>
                  <a:spcPts val="2380"/>
                </a:lnSpc>
              </a:pPr>
            </a:p>
            <a:p>
              <a:pPr algn="l">
                <a:lnSpc>
                  <a:spcPts val="2380"/>
                </a:lnSpc>
              </a:pPr>
            </a:p>
            <a:p>
              <a:pPr algn="l">
                <a:lnSpc>
                  <a:spcPts val="2380"/>
                </a:lnSpc>
              </a:pPr>
              <a:r>
                <a:rPr lang="en-US" sz="1700">
                  <a:solidFill>
                    <a:srgbClr val="000000"/>
                  </a:solidFill>
                  <a:latin typeface="HK Grotesk"/>
                  <a:ea typeface="HK Grotesk"/>
                  <a:cs typeface="HK Grotesk"/>
                  <a:sym typeface="HK Grotesk"/>
                </a:rPr>
                <a:t>Now, you’re ready to gather your ingredients and follow the recipe instructions below.  Good luck!</a:t>
              </a:r>
            </a:p>
          </p:txBody>
        </p:sp>
      </p:grpSp>
      <p:sp>
        <p:nvSpPr>
          <p:cNvPr name="TextBox 5" id="5"/>
          <p:cNvSpPr txBox="true"/>
          <p:nvPr/>
        </p:nvSpPr>
        <p:spPr>
          <a:xfrm rot="0">
            <a:off x="8432920" y="3551836"/>
            <a:ext cx="7826770" cy="2448559"/>
          </a:xfrm>
          <a:prstGeom prst="rect">
            <a:avLst/>
          </a:prstGeom>
        </p:spPr>
        <p:txBody>
          <a:bodyPr anchor="t" rtlCol="false" tIns="0" lIns="0" bIns="0" rIns="0">
            <a:spAutoFit/>
          </a:bodyPr>
          <a:lstStyle/>
          <a:p>
            <a:pPr algn="just" marL="367040" indent="-183520" lvl="1">
              <a:lnSpc>
                <a:spcPts val="2380"/>
              </a:lnSpc>
              <a:spcBef>
                <a:spcPct val="0"/>
              </a:spcBef>
              <a:buFont typeface="Arial"/>
              <a:buChar char="•"/>
            </a:pPr>
            <a:r>
              <a:rPr lang="en-US" sz="1700">
                <a:solidFill>
                  <a:srgbClr val="000000"/>
                </a:solidFill>
                <a:latin typeface="HK Grotesk"/>
                <a:ea typeface="HK Grotesk"/>
                <a:cs typeface="HK Grotesk"/>
                <a:sym typeface="HK Grotesk"/>
              </a:rPr>
              <a:t>8 1/2" x 4 1/2" loaf pan</a:t>
            </a:r>
          </a:p>
          <a:p>
            <a:pPr algn="just" marL="367040" indent="-183520" lvl="1">
              <a:lnSpc>
                <a:spcPts val="2380"/>
              </a:lnSpc>
              <a:spcBef>
                <a:spcPct val="0"/>
              </a:spcBef>
              <a:buFont typeface="Arial"/>
              <a:buChar char="•"/>
            </a:pPr>
            <a:r>
              <a:rPr lang="en-US" sz="1700">
                <a:solidFill>
                  <a:srgbClr val="000000"/>
                </a:solidFill>
                <a:latin typeface="HK Grotesk"/>
                <a:ea typeface="HK Grotesk"/>
                <a:cs typeface="HK Grotesk"/>
                <a:sym typeface="HK Grotesk"/>
              </a:rPr>
              <a:t>Plastic wrap</a:t>
            </a:r>
          </a:p>
          <a:p>
            <a:pPr algn="just" marL="367040" indent="-183520" lvl="1">
              <a:lnSpc>
                <a:spcPts val="2380"/>
              </a:lnSpc>
              <a:spcBef>
                <a:spcPct val="0"/>
              </a:spcBef>
              <a:buFont typeface="Arial"/>
              <a:buChar char="•"/>
            </a:pPr>
            <a:r>
              <a:rPr lang="en-US" sz="1700">
                <a:solidFill>
                  <a:srgbClr val="000000"/>
                </a:solidFill>
                <a:latin typeface="HK Grotesk"/>
                <a:ea typeface="HK Grotesk"/>
                <a:cs typeface="HK Grotesk"/>
                <a:sym typeface="HK Grotesk"/>
              </a:rPr>
              <a:t>Pastry brush (optional)</a:t>
            </a:r>
          </a:p>
          <a:p>
            <a:pPr algn="just" marL="367040" indent="-183520" lvl="1">
              <a:lnSpc>
                <a:spcPts val="2380"/>
              </a:lnSpc>
              <a:spcBef>
                <a:spcPct val="0"/>
              </a:spcBef>
              <a:buFont typeface="Arial"/>
              <a:buChar char="•"/>
            </a:pPr>
            <a:r>
              <a:rPr lang="en-US" sz="1700">
                <a:solidFill>
                  <a:srgbClr val="000000"/>
                </a:solidFill>
                <a:latin typeface="HK Grotesk"/>
                <a:ea typeface="HK Grotesk"/>
                <a:cs typeface="HK Grotesk"/>
                <a:sym typeface="HK Grotesk"/>
              </a:rPr>
              <a:t>Measuring cups and measuring spoons</a:t>
            </a:r>
          </a:p>
          <a:p>
            <a:pPr algn="just" marL="367040" indent="-183520" lvl="1">
              <a:lnSpc>
                <a:spcPts val="2380"/>
              </a:lnSpc>
              <a:spcBef>
                <a:spcPct val="0"/>
              </a:spcBef>
              <a:buFont typeface="Arial"/>
              <a:buChar char="•"/>
            </a:pPr>
            <a:r>
              <a:rPr lang="en-US" sz="1700">
                <a:solidFill>
                  <a:srgbClr val="000000"/>
                </a:solidFill>
                <a:latin typeface="HK Grotesk"/>
                <a:ea typeface="HK Grotesk"/>
                <a:cs typeface="HK Grotesk"/>
                <a:sym typeface="HK Grotesk"/>
              </a:rPr>
              <a:t>Cooling rack</a:t>
            </a:r>
          </a:p>
          <a:p>
            <a:pPr algn="just" marL="367040" indent="-183520" lvl="1">
              <a:lnSpc>
                <a:spcPts val="2380"/>
              </a:lnSpc>
              <a:spcBef>
                <a:spcPct val="0"/>
              </a:spcBef>
              <a:buFont typeface="Arial"/>
              <a:buChar char="•"/>
            </a:pPr>
            <a:r>
              <a:rPr lang="en-US" sz="1700">
                <a:solidFill>
                  <a:srgbClr val="000000"/>
                </a:solidFill>
                <a:latin typeface="HK Grotesk"/>
                <a:ea typeface="HK Grotesk"/>
                <a:cs typeface="HK Grotesk"/>
                <a:sym typeface="HK Grotesk"/>
              </a:rPr>
              <a:t>...</a:t>
            </a:r>
            <a:r>
              <a:rPr lang="en-US" sz="1700">
                <a:solidFill>
                  <a:srgbClr val="000000"/>
                </a:solidFill>
                <a:latin typeface="HK Grotesk"/>
                <a:ea typeface="HK Grotesk"/>
                <a:cs typeface="HK Grotesk"/>
                <a:sym typeface="HK Grotesk"/>
              </a:rPr>
              <a:t>and an oven, of course.</a:t>
            </a:r>
          </a:p>
          <a:p>
            <a:pPr algn="ctr">
              <a:lnSpc>
                <a:spcPts val="4900"/>
              </a:lnSpc>
              <a:spcBef>
                <a:spcPct val="0"/>
              </a:spcBef>
            </a:pPr>
          </a:p>
        </p:txBody>
      </p:sp>
      <p:grpSp>
        <p:nvGrpSpPr>
          <p:cNvPr name="Group 6" id="6"/>
          <p:cNvGrpSpPr/>
          <p:nvPr/>
        </p:nvGrpSpPr>
        <p:grpSpPr>
          <a:xfrm rot="0">
            <a:off x="731520" y="1054154"/>
            <a:ext cx="2459582" cy="2713064"/>
            <a:chOff x="0" y="0"/>
            <a:chExt cx="3279442" cy="3617419"/>
          </a:xfrm>
        </p:grpSpPr>
        <p:sp>
          <p:nvSpPr>
            <p:cNvPr name="Freeform 7" id="7" descr="Mixer with dough hook."/>
            <p:cNvSpPr/>
            <p:nvPr/>
          </p:nvSpPr>
          <p:spPr>
            <a:xfrm flipH="false" flipV="false" rot="0">
              <a:off x="0" y="0"/>
              <a:ext cx="3279442" cy="3279442"/>
            </a:xfrm>
            <a:custGeom>
              <a:avLst/>
              <a:gdLst/>
              <a:ahLst/>
              <a:cxnLst/>
              <a:rect r="r" b="b" t="t" l="l"/>
              <a:pathLst>
                <a:path h="3279442" w="3279442">
                  <a:moveTo>
                    <a:pt x="0" y="0"/>
                  </a:moveTo>
                  <a:lnTo>
                    <a:pt x="3279442" y="0"/>
                  </a:lnTo>
                  <a:lnTo>
                    <a:pt x="3279442" y="3279442"/>
                  </a:lnTo>
                  <a:lnTo>
                    <a:pt x="0" y="3279442"/>
                  </a:lnTo>
                  <a:lnTo>
                    <a:pt x="0" y="0"/>
                  </a:lnTo>
                  <a:close/>
                </a:path>
              </a:pathLst>
            </a:custGeom>
            <a:blipFill>
              <a:blip r:embed="rId3"/>
              <a:stretch>
                <a:fillRect l="0" t="-16747" r="0" b="-16747"/>
              </a:stretch>
            </a:blipFill>
            <a:ln w="9525" cap="sq">
              <a:solidFill>
                <a:srgbClr val="000000"/>
              </a:solidFill>
              <a:prstDash val="solid"/>
              <a:miter/>
            </a:ln>
          </p:spPr>
        </p:sp>
        <p:sp>
          <p:nvSpPr>
            <p:cNvPr name="TextBox 8" id="8"/>
            <p:cNvSpPr txBox="true"/>
            <p:nvPr/>
          </p:nvSpPr>
          <p:spPr>
            <a:xfrm rot="0">
              <a:off x="197569" y="3296528"/>
              <a:ext cx="2884304" cy="320891"/>
            </a:xfrm>
            <a:prstGeom prst="rect">
              <a:avLst/>
            </a:prstGeom>
          </p:spPr>
          <p:txBody>
            <a:bodyPr anchor="t" rtlCol="false" tIns="0" lIns="0" bIns="0" rIns="0">
              <a:spAutoFit/>
            </a:bodyPr>
            <a:lstStyle/>
            <a:p>
              <a:pPr algn="ctr">
                <a:lnSpc>
                  <a:spcPts val="2091"/>
                </a:lnSpc>
                <a:spcBef>
                  <a:spcPct val="0"/>
                </a:spcBef>
              </a:pPr>
              <a:r>
                <a:rPr lang="en-US" sz="1493">
                  <a:solidFill>
                    <a:srgbClr val="000000"/>
                  </a:solidFill>
                  <a:latin typeface="HK Grotesk"/>
                  <a:ea typeface="HK Grotesk"/>
                  <a:cs typeface="HK Grotesk"/>
                  <a:sym typeface="HK Grotesk"/>
                </a:rPr>
                <a:t>Mixer with dough hook</a:t>
              </a:r>
            </a:p>
          </p:txBody>
        </p:sp>
      </p:grpSp>
      <p:grpSp>
        <p:nvGrpSpPr>
          <p:cNvPr name="Group 9" id="9"/>
          <p:cNvGrpSpPr/>
          <p:nvPr/>
        </p:nvGrpSpPr>
        <p:grpSpPr>
          <a:xfrm rot="0">
            <a:off x="797008" y="4076398"/>
            <a:ext cx="2328606" cy="2607376"/>
            <a:chOff x="0" y="0"/>
            <a:chExt cx="3104808" cy="3476501"/>
          </a:xfrm>
        </p:grpSpPr>
        <p:sp>
          <p:nvSpPr>
            <p:cNvPr name="Freeform 10" id="10" descr="8 1/2&quot; x 4 1/2&quot; loaf pan."/>
            <p:cNvSpPr/>
            <p:nvPr/>
          </p:nvSpPr>
          <p:spPr>
            <a:xfrm flipH="false" flipV="false" rot="0">
              <a:off x="0" y="0"/>
              <a:ext cx="3104808" cy="3104808"/>
            </a:xfrm>
            <a:custGeom>
              <a:avLst/>
              <a:gdLst/>
              <a:ahLst/>
              <a:cxnLst/>
              <a:rect r="r" b="b" t="t" l="l"/>
              <a:pathLst>
                <a:path h="3104808" w="3104808">
                  <a:moveTo>
                    <a:pt x="0" y="0"/>
                  </a:moveTo>
                  <a:lnTo>
                    <a:pt x="3104808" y="0"/>
                  </a:lnTo>
                  <a:lnTo>
                    <a:pt x="3104808" y="3104808"/>
                  </a:lnTo>
                  <a:lnTo>
                    <a:pt x="0" y="3104808"/>
                  </a:lnTo>
                  <a:lnTo>
                    <a:pt x="0" y="0"/>
                  </a:lnTo>
                  <a:close/>
                </a:path>
              </a:pathLst>
            </a:custGeom>
            <a:blipFill>
              <a:blip r:embed="rId4"/>
              <a:stretch>
                <a:fillRect l="-4054" t="0" r="-4054" b="0"/>
              </a:stretch>
            </a:blipFill>
            <a:ln w="9525" cap="sq">
              <a:solidFill>
                <a:srgbClr val="000000"/>
              </a:solidFill>
              <a:prstDash val="solid"/>
              <a:miter/>
            </a:ln>
          </p:spPr>
        </p:sp>
        <p:sp>
          <p:nvSpPr>
            <p:cNvPr name="TextBox 11" id="11"/>
            <p:cNvSpPr txBox="true"/>
            <p:nvPr/>
          </p:nvSpPr>
          <p:spPr>
            <a:xfrm rot="0">
              <a:off x="0" y="3155610"/>
              <a:ext cx="2884304" cy="320891"/>
            </a:xfrm>
            <a:prstGeom prst="rect">
              <a:avLst/>
            </a:prstGeom>
          </p:spPr>
          <p:txBody>
            <a:bodyPr anchor="t" rtlCol="false" tIns="0" lIns="0" bIns="0" rIns="0">
              <a:spAutoFit/>
            </a:bodyPr>
            <a:lstStyle/>
            <a:p>
              <a:pPr algn="ctr">
                <a:lnSpc>
                  <a:spcPts val="2091"/>
                </a:lnSpc>
                <a:spcBef>
                  <a:spcPct val="0"/>
                </a:spcBef>
              </a:pPr>
              <a:r>
                <a:rPr lang="en-US" sz="1493">
                  <a:solidFill>
                    <a:srgbClr val="000000"/>
                  </a:solidFill>
                  <a:latin typeface="HK Grotesk"/>
                  <a:ea typeface="HK Grotesk"/>
                  <a:cs typeface="HK Grotesk"/>
                  <a:sym typeface="HK Grotesk"/>
                </a:rPr>
                <a:t>Loaf pan</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5F5EF"/>
        </a:solidFill>
      </p:bgPr>
    </p:bg>
    <p:spTree>
      <p:nvGrpSpPr>
        <p:cNvPr id="1" name=""/>
        <p:cNvGrpSpPr/>
        <p:nvPr/>
      </p:nvGrpSpPr>
      <p:grpSpPr>
        <a:xfrm>
          <a:off x="0" y="0"/>
          <a:ext cx="0" cy="0"/>
          <a:chOff x="0" y="0"/>
          <a:chExt cx="0" cy="0"/>
        </a:xfrm>
      </p:grpSpPr>
      <p:sp>
        <p:nvSpPr>
          <p:cNvPr name="TextBox 2" id="2"/>
          <p:cNvSpPr txBox="true"/>
          <p:nvPr/>
        </p:nvSpPr>
        <p:spPr>
          <a:xfrm rot="0">
            <a:off x="4246091" y="1089962"/>
            <a:ext cx="8393194" cy="596900"/>
          </a:xfrm>
          <a:prstGeom prst="rect">
            <a:avLst/>
          </a:prstGeom>
        </p:spPr>
        <p:txBody>
          <a:bodyPr anchor="t" rtlCol="false" tIns="0" lIns="0" bIns="0" rIns="0">
            <a:spAutoFit/>
          </a:bodyPr>
          <a:lstStyle/>
          <a:p>
            <a:pPr algn="l">
              <a:lnSpc>
                <a:spcPts val="4900"/>
              </a:lnSpc>
            </a:pPr>
            <a:r>
              <a:rPr lang="en-US" sz="3500">
                <a:solidFill>
                  <a:srgbClr val="000000"/>
                </a:solidFill>
                <a:latin typeface="Hammersmith One"/>
                <a:ea typeface="Hammersmith One"/>
                <a:cs typeface="Hammersmith One"/>
                <a:sym typeface="Hammersmith One"/>
              </a:rPr>
              <a:t>INGREDIENTS</a:t>
            </a:r>
          </a:p>
        </p:txBody>
      </p:sp>
      <p:sp>
        <p:nvSpPr>
          <p:cNvPr name="Freeform 3" id="3" descr="Dough ingredients."/>
          <p:cNvSpPr/>
          <p:nvPr/>
        </p:nvSpPr>
        <p:spPr>
          <a:xfrm flipH="false" flipV="false" rot="0">
            <a:off x="638502" y="2547092"/>
            <a:ext cx="3203554" cy="2906816"/>
          </a:xfrm>
          <a:custGeom>
            <a:avLst/>
            <a:gdLst/>
            <a:ahLst/>
            <a:cxnLst/>
            <a:rect r="r" b="b" t="t" l="l"/>
            <a:pathLst>
              <a:path h="2906816" w="3203554">
                <a:moveTo>
                  <a:pt x="0" y="0"/>
                </a:moveTo>
                <a:lnTo>
                  <a:pt x="3203554" y="0"/>
                </a:lnTo>
                <a:lnTo>
                  <a:pt x="3203554" y="2906816"/>
                </a:lnTo>
                <a:lnTo>
                  <a:pt x="0" y="2906816"/>
                </a:lnTo>
                <a:lnTo>
                  <a:pt x="0" y="0"/>
                </a:lnTo>
                <a:close/>
              </a:path>
            </a:pathLst>
          </a:custGeom>
          <a:blipFill>
            <a:blip r:embed="rId2"/>
            <a:stretch>
              <a:fillRect l="0" t="0" r="0" b="0"/>
            </a:stretch>
          </a:blipFill>
          <a:ln w="9525" cap="sq">
            <a:solidFill>
              <a:srgbClr val="000000"/>
            </a:solidFill>
            <a:prstDash val="solid"/>
            <a:miter/>
          </a:ln>
        </p:spPr>
      </p:sp>
      <p:sp>
        <p:nvSpPr>
          <p:cNvPr name="TextBox 4" id="4"/>
          <p:cNvSpPr txBox="true"/>
          <p:nvPr/>
        </p:nvSpPr>
        <p:spPr>
          <a:xfrm rot="0">
            <a:off x="4246091" y="1852560"/>
            <a:ext cx="8529986" cy="4868545"/>
          </a:xfrm>
          <a:prstGeom prst="rect">
            <a:avLst/>
          </a:prstGeom>
        </p:spPr>
        <p:txBody>
          <a:bodyPr anchor="t" rtlCol="false" tIns="0" lIns="0" bIns="0" rIns="0">
            <a:spAutoFit/>
          </a:bodyPr>
          <a:lstStyle/>
          <a:p>
            <a:pPr algn="l">
              <a:lnSpc>
                <a:spcPts val="3079"/>
              </a:lnSpc>
            </a:pPr>
            <a:r>
              <a:rPr lang="en-US" sz="2199" b="true">
                <a:solidFill>
                  <a:srgbClr val="000000"/>
                </a:solidFill>
                <a:latin typeface="HK Grotesk Bold"/>
                <a:ea typeface="HK Grotesk Bold"/>
                <a:cs typeface="HK Grotesk Bold"/>
                <a:sym typeface="HK Grotesk Bold"/>
              </a:rPr>
              <a:t>Dough</a:t>
            </a:r>
          </a:p>
          <a:p>
            <a:pPr algn="l" marL="474978" indent="-237489" lvl="1">
              <a:lnSpc>
                <a:spcPts val="3079"/>
              </a:lnSpc>
              <a:buFont typeface="Arial"/>
              <a:buChar char="•"/>
            </a:pPr>
            <a:r>
              <a:rPr lang="en-US" b="true" sz="2199">
                <a:solidFill>
                  <a:srgbClr val="000000"/>
                </a:solidFill>
                <a:latin typeface="HK Grotesk Medium"/>
                <a:ea typeface="HK Grotesk Medium"/>
                <a:cs typeface="HK Grotesk Medium"/>
                <a:sym typeface="HK Grotesk Medium"/>
              </a:rPr>
              <a:t>   </a:t>
            </a:r>
            <a:r>
              <a:rPr lang="en-US" sz="2199">
                <a:solidFill>
                  <a:srgbClr val="000000"/>
                </a:solidFill>
                <a:latin typeface="HK Grotesk"/>
                <a:ea typeface="HK Grotesk"/>
                <a:cs typeface="HK Grotesk"/>
                <a:sym typeface="HK Grotesk"/>
              </a:rPr>
              <a:t>   3/4 cup </a:t>
            </a:r>
            <a:r>
              <a:rPr lang="en-US" sz="2199" u="sng">
                <a:solidFill>
                  <a:srgbClr val="000000"/>
                </a:solidFill>
                <a:latin typeface="HK Grotesk"/>
                <a:ea typeface="HK Grotesk"/>
                <a:cs typeface="HK Grotesk"/>
                <a:sym typeface="HK Grotesk"/>
                <a:hlinkClick r:id="rId3" action="ppaction://hlinksldjump"/>
              </a:rPr>
              <a:t>whole milk</a:t>
            </a:r>
            <a:r>
              <a:rPr lang="en-US" sz="2199">
                <a:solidFill>
                  <a:srgbClr val="000000"/>
                </a:solidFill>
                <a:latin typeface="HK Grotesk"/>
                <a:ea typeface="HK Grotesk"/>
                <a:cs typeface="HK Grotesk"/>
                <a:sym typeface="HK Grotesk"/>
              </a:rPr>
              <a:t>, </a:t>
            </a:r>
            <a:r>
              <a:rPr lang="en-US" sz="2199" u="sng">
                <a:solidFill>
                  <a:srgbClr val="000000"/>
                </a:solidFill>
                <a:latin typeface="HK Grotesk"/>
                <a:ea typeface="HK Grotesk"/>
                <a:cs typeface="HK Grotesk"/>
                <a:sym typeface="HK Grotesk"/>
                <a:hlinkClick r:id="rId3" action="ppaction://hlinksldjump"/>
              </a:rPr>
              <a:t>at room temperature</a:t>
            </a:r>
            <a:r>
              <a:rPr lang="en-US" sz="2199">
                <a:solidFill>
                  <a:srgbClr val="000000"/>
                </a:solidFill>
                <a:latin typeface="HK Grotesk"/>
                <a:ea typeface="HK Grotesk"/>
                <a:cs typeface="HK Grotesk"/>
                <a:sym typeface="HK Grotesk"/>
              </a:rPr>
              <a:t> (</a:t>
            </a:r>
            <a:r>
              <a:rPr lang="en-US" sz="2199" u="sng">
                <a:solidFill>
                  <a:srgbClr val="000000"/>
                </a:solidFill>
                <a:latin typeface="HK Grotesk"/>
                <a:ea typeface="HK Grotesk"/>
                <a:cs typeface="HK Grotesk"/>
                <a:sym typeface="HK Grotesk"/>
                <a:hlinkClick r:id="rId3" action="ppaction://hlinksldjump"/>
              </a:rPr>
              <a:t>6 oz</a:t>
            </a:r>
            <a:r>
              <a:rPr lang="en-US" sz="2199">
                <a:solidFill>
                  <a:srgbClr val="000000"/>
                </a:solidFill>
                <a:latin typeface="HK Grotesk"/>
                <a:ea typeface="HK Grotesk"/>
                <a:cs typeface="HK Grotesk"/>
                <a:sym typeface="HK Grotesk"/>
              </a:rPr>
              <a:t>)</a:t>
            </a:r>
          </a:p>
          <a:p>
            <a:pPr algn="l" marL="474978" indent="-237489" lvl="1">
              <a:lnSpc>
                <a:spcPts val="3079"/>
              </a:lnSpc>
              <a:buFont typeface="Arial"/>
              <a:buChar char="•"/>
            </a:pPr>
            <a:r>
              <a:rPr lang="en-US" sz="2199">
                <a:solidFill>
                  <a:srgbClr val="000000"/>
                </a:solidFill>
                <a:latin typeface="HK Grotesk"/>
                <a:ea typeface="HK Grotesk"/>
                <a:cs typeface="HK Grotesk"/>
                <a:sym typeface="HK Grotesk"/>
              </a:rPr>
              <a:t>      2 large egg yolks</a:t>
            </a:r>
          </a:p>
          <a:p>
            <a:pPr algn="l" marL="474978" indent="-237489" lvl="1">
              <a:lnSpc>
                <a:spcPts val="3079"/>
              </a:lnSpc>
              <a:buFont typeface="Arial"/>
              <a:buChar char="•"/>
            </a:pPr>
            <a:r>
              <a:rPr lang="en-US" sz="2199">
                <a:solidFill>
                  <a:srgbClr val="000000"/>
                </a:solidFill>
                <a:latin typeface="HK Grotesk"/>
                <a:ea typeface="HK Grotesk"/>
                <a:cs typeface="HK Grotesk"/>
                <a:sym typeface="HK Grotesk"/>
              </a:rPr>
              <a:t>      1 teaspoon vanilla extract</a:t>
            </a:r>
          </a:p>
          <a:p>
            <a:pPr algn="l" marL="474978" indent="-237489" lvl="1">
              <a:lnSpc>
                <a:spcPts val="3079"/>
              </a:lnSpc>
              <a:buFont typeface="Arial"/>
              <a:buChar char="•"/>
            </a:pPr>
            <a:r>
              <a:rPr lang="en-US" sz="2199">
                <a:solidFill>
                  <a:srgbClr val="000000"/>
                </a:solidFill>
                <a:latin typeface="HK Grotesk"/>
                <a:ea typeface="HK Grotesk"/>
                <a:cs typeface="HK Grotesk"/>
                <a:sym typeface="HK Grotesk"/>
              </a:rPr>
              <a:t>      2 cups all-purpose flour (</a:t>
            </a:r>
            <a:r>
              <a:rPr lang="en-US" sz="2199" u="sng">
                <a:solidFill>
                  <a:srgbClr val="000000"/>
                </a:solidFill>
                <a:latin typeface="HK Grotesk"/>
                <a:ea typeface="HK Grotesk"/>
                <a:cs typeface="HK Grotesk"/>
                <a:sym typeface="HK Grotesk"/>
                <a:hlinkClick r:id="rId3" action="ppaction://hlinksldjump"/>
              </a:rPr>
              <a:t>10 oz</a:t>
            </a:r>
            <a:r>
              <a:rPr lang="en-US" sz="2199">
                <a:solidFill>
                  <a:srgbClr val="000000"/>
                </a:solidFill>
                <a:latin typeface="HK Grotesk"/>
                <a:ea typeface="HK Grotesk"/>
                <a:cs typeface="HK Grotesk"/>
                <a:sym typeface="HK Grotesk"/>
              </a:rPr>
              <a:t>)</a:t>
            </a:r>
          </a:p>
          <a:p>
            <a:pPr algn="l" marL="474978" indent="-237489" lvl="1">
              <a:lnSpc>
                <a:spcPts val="3079"/>
              </a:lnSpc>
              <a:buFont typeface="Arial"/>
              <a:buChar char="•"/>
            </a:pPr>
            <a:r>
              <a:rPr lang="en-US" sz="2199">
                <a:solidFill>
                  <a:srgbClr val="000000"/>
                </a:solidFill>
                <a:latin typeface="HK Grotesk"/>
                <a:ea typeface="HK Grotesk"/>
                <a:cs typeface="HK Grotesk"/>
                <a:sym typeface="HK Grotesk"/>
              </a:rPr>
              <a:t>      2 tablespoons </a:t>
            </a:r>
            <a:r>
              <a:rPr lang="en-US" sz="2199" u="sng">
                <a:solidFill>
                  <a:srgbClr val="000000"/>
                </a:solidFill>
                <a:latin typeface="HK Grotesk"/>
                <a:ea typeface="HK Grotesk"/>
                <a:cs typeface="HK Grotesk"/>
                <a:sym typeface="HK Grotesk"/>
                <a:hlinkClick r:id="rId3" action="ppaction://hlinksldjump"/>
              </a:rPr>
              <a:t>potato flour</a:t>
            </a:r>
          </a:p>
          <a:p>
            <a:pPr algn="l" marL="474978" indent="-237489" lvl="1">
              <a:lnSpc>
                <a:spcPts val="3079"/>
              </a:lnSpc>
              <a:buFont typeface="Arial"/>
              <a:buChar char="•"/>
            </a:pPr>
            <a:r>
              <a:rPr lang="en-US" sz="2199">
                <a:solidFill>
                  <a:srgbClr val="000000"/>
                </a:solidFill>
                <a:latin typeface="HK Grotesk"/>
                <a:ea typeface="HK Grotesk"/>
                <a:cs typeface="HK Grotesk"/>
                <a:sym typeface="HK Grotesk"/>
              </a:rPr>
              <a:t>      2 tablespoons sugar</a:t>
            </a:r>
          </a:p>
          <a:p>
            <a:pPr algn="l" marL="474978" indent="-237489" lvl="1">
              <a:lnSpc>
                <a:spcPts val="3079"/>
              </a:lnSpc>
              <a:buFont typeface="Arial"/>
              <a:buChar char="•"/>
            </a:pPr>
            <a:r>
              <a:rPr lang="en-US" sz="2199">
                <a:solidFill>
                  <a:srgbClr val="000000"/>
                </a:solidFill>
                <a:latin typeface="HK Grotesk"/>
                <a:ea typeface="HK Grotesk"/>
                <a:cs typeface="HK Grotesk"/>
                <a:sym typeface="HK Grotesk"/>
              </a:rPr>
              <a:t>      1/2 teaspoon cinnamon</a:t>
            </a:r>
          </a:p>
          <a:p>
            <a:pPr algn="l" marL="474978" indent="-237489" lvl="1">
              <a:lnSpc>
                <a:spcPts val="3079"/>
              </a:lnSpc>
              <a:buFont typeface="Arial"/>
              <a:buChar char="•"/>
            </a:pPr>
            <a:r>
              <a:rPr lang="en-US" sz="2199">
                <a:solidFill>
                  <a:srgbClr val="000000"/>
                </a:solidFill>
                <a:latin typeface="HK Grotesk"/>
                <a:ea typeface="HK Grotesk"/>
                <a:cs typeface="HK Grotesk"/>
                <a:sym typeface="HK Grotesk"/>
              </a:rPr>
              <a:t>      1 teaspoon instant or rapid-rise yeast</a:t>
            </a:r>
          </a:p>
          <a:p>
            <a:pPr algn="l" marL="474978" indent="-237489" lvl="1">
              <a:lnSpc>
                <a:spcPts val="3079"/>
              </a:lnSpc>
              <a:buFont typeface="Arial"/>
              <a:buChar char="•"/>
            </a:pPr>
            <a:r>
              <a:rPr lang="en-US" sz="2199">
                <a:solidFill>
                  <a:srgbClr val="000000"/>
                </a:solidFill>
                <a:latin typeface="HK Grotesk"/>
                <a:ea typeface="HK Grotesk"/>
                <a:cs typeface="HK Grotesk"/>
                <a:sym typeface="HK Grotesk"/>
              </a:rPr>
              <a:t>      1 teaspoon table salt</a:t>
            </a:r>
          </a:p>
          <a:p>
            <a:pPr algn="l" marL="474978" indent="-237489" lvl="1">
              <a:lnSpc>
                <a:spcPts val="3079"/>
              </a:lnSpc>
              <a:buFont typeface="Arial"/>
              <a:buChar char="•"/>
            </a:pPr>
            <a:r>
              <a:rPr lang="en-US" sz="2199">
                <a:solidFill>
                  <a:srgbClr val="000000"/>
                </a:solidFill>
                <a:latin typeface="HK Grotesk"/>
                <a:ea typeface="HK Grotesk"/>
                <a:cs typeface="HK Grotesk"/>
                <a:sym typeface="HK Grotesk"/>
              </a:rPr>
              <a:t>      4 tablespoons unsalted butter, s</a:t>
            </a:r>
            <a:r>
              <a:rPr lang="en-US" sz="2199" u="sng">
                <a:solidFill>
                  <a:srgbClr val="000000"/>
                </a:solidFill>
                <a:latin typeface="HK Grotesk"/>
                <a:ea typeface="HK Grotesk"/>
                <a:cs typeface="HK Grotesk"/>
                <a:sym typeface="HK Grotesk"/>
                <a:hlinkClick r:id="rId3" action="ppaction://hlinksldjump"/>
              </a:rPr>
              <a:t>oftened</a:t>
            </a:r>
            <a:r>
              <a:rPr lang="en-US" sz="2199">
                <a:solidFill>
                  <a:srgbClr val="000000"/>
                </a:solidFill>
                <a:latin typeface="HK Grotesk"/>
                <a:ea typeface="HK Grotesk"/>
                <a:cs typeface="HK Grotesk"/>
                <a:sym typeface="HK Grotesk"/>
              </a:rPr>
              <a:t> (</a:t>
            </a:r>
            <a:r>
              <a:rPr lang="en-US" sz="2199" u="sng">
                <a:solidFill>
                  <a:srgbClr val="000000"/>
                </a:solidFill>
                <a:latin typeface="HK Grotesk"/>
                <a:ea typeface="HK Grotesk"/>
                <a:cs typeface="HK Grotesk"/>
                <a:sym typeface="HK Grotesk"/>
                <a:hlinkClick r:id="rId3" action="ppaction://hlinksldjump"/>
              </a:rPr>
              <a:t>2 oz</a:t>
            </a:r>
            <a:r>
              <a:rPr lang="en-US" sz="2199">
                <a:solidFill>
                  <a:srgbClr val="000000"/>
                </a:solidFill>
                <a:latin typeface="HK Grotesk"/>
                <a:ea typeface="HK Grotesk"/>
                <a:cs typeface="HK Grotesk"/>
                <a:sym typeface="HK Grotesk"/>
              </a:rPr>
              <a:t>)</a:t>
            </a:r>
          </a:p>
          <a:p>
            <a:pPr algn="l">
              <a:lnSpc>
                <a:spcPts val="3079"/>
              </a:lnSpc>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5F5EF"/>
        </a:solidFill>
      </p:bgPr>
    </p:bg>
    <p:spTree>
      <p:nvGrpSpPr>
        <p:cNvPr id="1" name=""/>
        <p:cNvGrpSpPr/>
        <p:nvPr/>
      </p:nvGrpSpPr>
      <p:grpSpPr>
        <a:xfrm>
          <a:off x="0" y="0"/>
          <a:ext cx="0" cy="0"/>
          <a:chOff x="0" y="0"/>
          <a:chExt cx="0" cy="0"/>
        </a:xfrm>
      </p:grpSpPr>
      <p:sp>
        <p:nvSpPr>
          <p:cNvPr name="Freeform 2" id="2" descr="Filling ingredients."/>
          <p:cNvSpPr/>
          <p:nvPr/>
        </p:nvSpPr>
        <p:spPr>
          <a:xfrm flipH="false" flipV="false" rot="0">
            <a:off x="741045" y="1404895"/>
            <a:ext cx="3741315" cy="3255001"/>
          </a:xfrm>
          <a:custGeom>
            <a:avLst/>
            <a:gdLst/>
            <a:ahLst/>
            <a:cxnLst/>
            <a:rect r="r" b="b" t="t" l="l"/>
            <a:pathLst>
              <a:path h="3255001" w="3741315">
                <a:moveTo>
                  <a:pt x="0" y="0"/>
                </a:moveTo>
                <a:lnTo>
                  <a:pt x="3741315" y="0"/>
                </a:lnTo>
                <a:lnTo>
                  <a:pt x="3741315" y="3255001"/>
                </a:lnTo>
                <a:lnTo>
                  <a:pt x="0" y="3255001"/>
                </a:lnTo>
                <a:lnTo>
                  <a:pt x="0" y="0"/>
                </a:lnTo>
                <a:close/>
              </a:path>
            </a:pathLst>
          </a:custGeom>
          <a:blipFill>
            <a:blip r:embed="rId2"/>
            <a:stretch>
              <a:fillRect l="0" t="0" r="-6214" b="0"/>
            </a:stretch>
          </a:blipFill>
          <a:ln w="9525" cap="sq">
            <a:solidFill>
              <a:srgbClr val="000000"/>
            </a:solidFill>
            <a:prstDash val="solid"/>
            <a:miter/>
          </a:ln>
        </p:spPr>
      </p:sp>
      <p:sp>
        <p:nvSpPr>
          <p:cNvPr name="TextBox 3" id="3"/>
          <p:cNvSpPr txBox="true"/>
          <p:nvPr/>
        </p:nvSpPr>
        <p:spPr>
          <a:xfrm rot="0">
            <a:off x="5087073" y="872490"/>
            <a:ext cx="8393194" cy="5541645"/>
          </a:xfrm>
          <a:prstGeom prst="rect">
            <a:avLst/>
          </a:prstGeom>
        </p:spPr>
        <p:txBody>
          <a:bodyPr anchor="t" rtlCol="false" tIns="0" lIns="0" bIns="0" rIns="0">
            <a:spAutoFit/>
          </a:bodyPr>
          <a:lstStyle/>
          <a:p>
            <a:pPr algn="l">
              <a:lnSpc>
                <a:spcPts val="3079"/>
              </a:lnSpc>
            </a:pPr>
            <a:r>
              <a:rPr lang="en-US" sz="2199" b="true">
                <a:solidFill>
                  <a:srgbClr val="000000"/>
                </a:solidFill>
                <a:latin typeface="HK Grotesk Bold"/>
                <a:ea typeface="HK Grotesk Bold"/>
                <a:cs typeface="HK Grotesk Bold"/>
                <a:sym typeface="HK Grotesk Bold"/>
              </a:rPr>
              <a:t>Filling</a:t>
            </a:r>
          </a:p>
          <a:p>
            <a:pPr algn="l" marL="474978" indent="-237489" lvl="1">
              <a:lnSpc>
                <a:spcPts val="3079"/>
              </a:lnSpc>
              <a:buFont typeface="Arial"/>
              <a:buChar char="•"/>
            </a:pPr>
            <a:r>
              <a:rPr lang="en-US" sz="2199">
                <a:solidFill>
                  <a:srgbClr val="000000"/>
                </a:solidFill>
                <a:latin typeface="HK Grotesk"/>
                <a:ea typeface="HK Grotesk"/>
                <a:cs typeface="HK Grotesk"/>
                <a:sym typeface="HK Grotesk"/>
              </a:rPr>
              <a:t>     </a:t>
            </a:r>
            <a:r>
              <a:rPr lang="en-US" sz="2199">
                <a:solidFill>
                  <a:srgbClr val="000000"/>
                </a:solidFill>
                <a:latin typeface="HK Grotesk"/>
                <a:ea typeface="HK Grotesk"/>
                <a:cs typeface="HK Grotesk"/>
                <a:sym typeface="HK Grotesk"/>
              </a:rPr>
              <a:t>1/2</a:t>
            </a:r>
            <a:r>
              <a:rPr lang="en-US" b="true" sz="2199">
                <a:solidFill>
                  <a:srgbClr val="000000"/>
                </a:solidFill>
                <a:latin typeface="HK Grotesk Medium"/>
                <a:ea typeface="HK Grotesk Medium"/>
                <a:cs typeface="HK Grotesk Medium"/>
                <a:sym typeface="HK Grotesk Medium"/>
              </a:rPr>
              <a:t> </a:t>
            </a:r>
            <a:r>
              <a:rPr lang="en-US" sz="2199">
                <a:solidFill>
                  <a:srgbClr val="000000"/>
                </a:solidFill>
                <a:latin typeface="HK Grotesk"/>
                <a:ea typeface="HK Grotesk"/>
                <a:cs typeface="HK Grotesk"/>
                <a:sym typeface="HK Grotesk"/>
              </a:rPr>
              <a:t>cup packed light brown sugar (3.5 oz)</a:t>
            </a:r>
          </a:p>
          <a:p>
            <a:pPr algn="l" marL="474978" indent="-237489" lvl="1">
              <a:lnSpc>
                <a:spcPts val="3079"/>
              </a:lnSpc>
              <a:buFont typeface="Arial"/>
              <a:buChar char="•"/>
            </a:pPr>
            <a:r>
              <a:rPr lang="en-US" sz="2199">
                <a:solidFill>
                  <a:srgbClr val="000000"/>
                </a:solidFill>
                <a:latin typeface="HK Grotesk"/>
                <a:ea typeface="HK Grotesk"/>
                <a:cs typeface="HK Grotesk"/>
                <a:sym typeface="HK Grotesk"/>
              </a:rPr>
              <a:t>     2 1/2 tablespoons all-purpose flour</a:t>
            </a:r>
          </a:p>
          <a:p>
            <a:pPr algn="l" marL="474978" indent="-237489" lvl="1">
              <a:lnSpc>
                <a:spcPts val="3079"/>
              </a:lnSpc>
              <a:buFont typeface="Arial"/>
              <a:buChar char="•"/>
            </a:pPr>
            <a:r>
              <a:rPr lang="en-US" sz="2199">
                <a:solidFill>
                  <a:srgbClr val="000000"/>
                </a:solidFill>
                <a:latin typeface="HK Grotesk"/>
                <a:ea typeface="HK Grotesk"/>
                <a:cs typeface="HK Grotesk"/>
                <a:sym typeface="HK Grotesk"/>
              </a:rPr>
              <a:t>     2 tablespoons unsalted butter, melted and cooled</a:t>
            </a:r>
          </a:p>
          <a:p>
            <a:pPr algn="l" marL="474978" indent="-237489" lvl="1">
              <a:lnSpc>
                <a:spcPts val="3079"/>
              </a:lnSpc>
              <a:buFont typeface="Arial"/>
              <a:buChar char="•"/>
            </a:pPr>
            <a:r>
              <a:rPr lang="en-US" sz="2199">
                <a:solidFill>
                  <a:srgbClr val="000000"/>
                </a:solidFill>
                <a:latin typeface="HK Grotesk"/>
                <a:ea typeface="HK Grotesk"/>
                <a:cs typeface="HK Grotesk"/>
                <a:sym typeface="HK Grotesk"/>
              </a:rPr>
              <a:t>     1 large egg white</a:t>
            </a:r>
          </a:p>
          <a:p>
            <a:pPr algn="l" marL="474978" indent="-237489" lvl="1">
              <a:lnSpc>
                <a:spcPts val="3079"/>
              </a:lnSpc>
              <a:buFont typeface="Arial"/>
              <a:buChar char="•"/>
            </a:pPr>
            <a:r>
              <a:rPr lang="en-US" sz="2199">
                <a:solidFill>
                  <a:srgbClr val="000000"/>
                </a:solidFill>
                <a:latin typeface="HK Grotesk"/>
                <a:ea typeface="HK Grotesk"/>
                <a:cs typeface="HK Grotesk"/>
                <a:sym typeface="HK Grotesk"/>
              </a:rPr>
              <a:t>     2 teaspoons ground cinnamon</a:t>
            </a:r>
          </a:p>
          <a:p>
            <a:pPr algn="l" marL="474978" indent="-237489" lvl="1">
              <a:lnSpc>
                <a:spcPts val="3079"/>
              </a:lnSpc>
              <a:buFont typeface="Arial"/>
              <a:buChar char="•"/>
            </a:pPr>
            <a:r>
              <a:rPr lang="en-US" sz="2199">
                <a:solidFill>
                  <a:srgbClr val="000000"/>
                </a:solidFill>
                <a:latin typeface="HK Grotesk"/>
                <a:ea typeface="HK Grotesk"/>
                <a:cs typeface="HK Grotesk"/>
                <a:sym typeface="HK Grotesk"/>
              </a:rPr>
              <a:t>     1/8 teaspoon table salt</a:t>
            </a:r>
          </a:p>
          <a:p>
            <a:pPr algn="l" marL="474978" indent="-237489" lvl="1">
              <a:lnSpc>
                <a:spcPts val="3079"/>
              </a:lnSpc>
              <a:buFont typeface="Arial"/>
              <a:buChar char="•"/>
            </a:pPr>
            <a:r>
              <a:rPr lang="en-US" sz="2199">
                <a:solidFill>
                  <a:srgbClr val="000000"/>
                </a:solidFill>
                <a:latin typeface="HK Grotesk"/>
                <a:ea typeface="HK Grotesk"/>
                <a:cs typeface="HK Grotesk"/>
                <a:sym typeface="HK Grotesk"/>
              </a:rPr>
              <a:t>     1/3 cup walnuts, toasted and chopped (optional)</a:t>
            </a:r>
          </a:p>
          <a:p>
            <a:pPr algn="l" marL="474978" indent="-237489" lvl="1">
              <a:lnSpc>
                <a:spcPts val="3079"/>
              </a:lnSpc>
              <a:buFont typeface="Arial"/>
              <a:buChar char="•"/>
            </a:pPr>
            <a:r>
              <a:rPr lang="en-US" sz="2199">
                <a:solidFill>
                  <a:srgbClr val="000000"/>
                </a:solidFill>
                <a:latin typeface="HK Grotesk"/>
                <a:ea typeface="HK Grotesk"/>
                <a:cs typeface="HK Grotesk"/>
                <a:sym typeface="HK Grotesk"/>
              </a:rPr>
              <a:t>     1/3 cup raisins (optional)</a:t>
            </a:r>
          </a:p>
          <a:p>
            <a:pPr algn="l">
              <a:lnSpc>
                <a:spcPts val="3079"/>
              </a:lnSpc>
            </a:pPr>
          </a:p>
          <a:p>
            <a:pPr algn="l">
              <a:lnSpc>
                <a:spcPts val="3079"/>
              </a:lnSpc>
            </a:pPr>
            <a:r>
              <a:rPr lang="en-US" sz="2199" b="true">
                <a:solidFill>
                  <a:srgbClr val="000000"/>
                </a:solidFill>
                <a:latin typeface="HK Grotesk Bold"/>
                <a:ea typeface="HK Grotesk Bold"/>
                <a:cs typeface="HK Grotesk Bold"/>
                <a:sym typeface="HK Grotesk Bold"/>
              </a:rPr>
              <a:t>Glaze</a:t>
            </a:r>
          </a:p>
          <a:p>
            <a:pPr algn="l" marL="474978" indent="-237489" lvl="1">
              <a:lnSpc>
                <a:spcPts val="3079"/>
              </a:lnSpc>
              <a:buFont typeface="Arial"/>
              <a:buChar char="•"/>
            </a:pPr>
            <a:r>
              <a:rPr lang="en-US" sz="2199">
                <a:solidFill>
                  <a:srgbClr val="000000"/>
                </a:solidFill>
                <a:latin typeface="HK Grotesk"/>
                <a:ea typeface="HK Grotesk"/>
                <a:cs typeface="HK Grotesk"/>
                <a:sym typeface="HK Grotesk"/>
              </a:rPr>
              <a:t>     1 large egg, beaten lightly with 1 tablespoon water</a:t>
            </a:r>
          </a:p>
          <a:p>
            <a:pPr algn="l">
              <a:lnSpc>
                <a:spcPts val="3079"/>
              </a:lnSpc>
            </a:pPr>
          </a:p>
          <a:p>
            <a:pPr algn="l">
              <a:lnSpc>
                <a:spcPts val="2380"/>
              </a:lnSpc>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5F5EF"/>
        </a:solidFill>
      </p:bgPr>
    </p:bg>
    <p:spTree>
      <p:nvGrpSpPr>
        <p:cNvPr id="1" name=""/>
        <p:cNvGrpSpPr/>
        <p:nvPr/>
      </p:nvGrpSpPr>
      <p:grpSpPr>
        <a:xfrm>
          <a:off x="0" y="0"/>
          <a:ext cx="0" cy="0"/>
          <a:chOff x="0" y="0"/>
          <a:chExt cx="0" cy="0"/>
        </a:xfrm>
      </p:grpSpPr>
      <p:sp>
        <p:nvSpPr>
          <p:cNvPr name="TextBox 2" id="2"/>
          <p:cNvSpPr txBox="true"/>
          <p:nvPr/>
        </p:nvSpPr>
        <p:spPr>
          <a:xfrm rot="0">
            <a:off x="1360819" y="4619794"/>
            <a:ext cx="1478936" cy="280670"/>
          </a:xfrm>
          <a:prstGeom prst="rect">
            <a:avLst/>
          </a:prstGeom>
        </p:spPr>
        <p:txBody>
          <a:bodyPr anchor="t" rtlCol="false" tIns="0" lIns="0" bIns="0" rIns="0">
            <a:spAutoFit/>
          </a:bodyPr>
          <a:lstStyle/>
          <a:p>
            <a:pPr algn="ctr">
              <a:lnSpc>
                <a:spcPts val="2380"/>
              </a:lnSpc>
            </a:pPr>
            <a:r>
              <a:rPr lang="en-US" b="true" sz="1700" u="sng">
                <a:solidFill>
                  <a:srgbClr val="FFFFFF"/>
                </a:solidFill>
                <a:latin typeface="HK Grotesk Semi-Bold"/>
                <a:ea typeface="HK Grotesk Semi-Bold"/>
                <a:cs typeface="HK Grotesk Semi-Bold"/>
                <a:sym typeface="HK Grotesk Semi-Bold"/>
                <a:hlinkClick r:id="rId2" action="ppaction://hlinksldjump"/>
              </a:rPr>
              <a:t>Home</a:t>
            </a:r>
          </a:p>
        </p:txBody>
      </p:sp>
      <p:grpSp>
        <p:nvGrpSpPr>
          <p:cNvPr name="Group 3" id="3"/>
          <p:cNvGrpSpPr/>
          <p:nvPr/>
        </p:nvGrpSpPr>
        <p:grpSpPr>
          <a:xfrm rot="0">
            <a:off x="4026680" y="56832"/>
            <a:ext cx="8262475" cy="7353672"/>
            <a:chOff x="0" y="0"/>
            <a:chExt cx="11016633" cy="9804896"/>
          </a:xfrm>
        </p:grpSpPr>
        <p:sp>
          <p:nvSpPr>
            <p:cNvPr name="TextBox 4" id="4"/>
            <p:cNvSpPr txBox="true"/>
            <p:nvPr/>
          </p:nvSpPr>
          <p:spPr>
            <a:xfrm rot="0">
              <a:off x="0" y="-66675"/>
              <a:ext cx="11016633" cy="773642"/>
            </a:xfrm>
            <a:prstGeom prst="rect">
              <a:avLst/>
            </a:prstGeom>
          </p:spPr>
          <p:txBody>
            <a:bodyPr anchor="t" rtlCol="false" tIns="0" lIns="0" bIns="0" rIns="0">
              <a:spAutoFit/>
            </a:bodyPr>
            <a:lstStyle/>
            <a:p>
              <a:pPr algn="l">
                <a:lnSpc>
                  <a:spcPts val="4900"/>
                </a:lnSpc>
              </a:pPr>
              <a:r>
                <a:rPr lang="en-US" sz="3500">
                  <a:solidFill>
                    <a:srgbClr val="000000"/>
                  </a:solidFill>
                  <a:latin typeface="Hammersmith One"/>
                  <a:ea typeface="Hammersmith One"/>
                  <a:cs typeface="Hammersmith One"/>
                  <a:sym typeface="Hammersmith One"/>
                </a:rPr>
                <a:t>PREPARE THE DOUGH</a:t>
              </a:r>
            </a:p>
          </p:txBody>
        </p:sp>
        <p:sp>
          <p:nvSpPr>
            <p:cNvPr name="TextBox 5" id="5"/>
            <p:cNvSpPr txBox="true"/>
            <p:nvPr/>
          </p:nvSpPr>
          <p:spPr>
            <a:xfrm rot="0">
              <a:off x="0" y="979877"/>
              <a:ext cx="11016633" cy="8825018"/>
            </a:xfrm>
            <a:prstGeom prst="rect">
              <a:avLst/>
            </a:prstGeom>
          </p:spPr>
          <p:txBody>
            <a:bodyPr anchor="t" rtlCol="false" tIns="0" lIns="0" bIns="0" rIns="0">
              <a:spAutoFit/>
            </a:bodyPr>
            <a:lstStyle/>
            <a:p>
              <a:pPr algn="l">
                <a:lnSpc>
                  <a:spcPts val="3079"/>
                </a:lnSpc>
              </a:pPr>
              <a:r>
                <a:rPr lang="en-US" sz="2199">
                  <a:solidFill>
                    <a:srgbClr val="000000"/>
                  </a:solidFill>
                  <a:latin typeface="HK Grotesk"/>
                  <a:ea typeface="HK Grotesk"/>
                  <a:cs typeface="HK Grotesk"/>
                  <a:sym typeface="HK Grotesk"/>
                </a:rPr>
                <a:t>1. Grease a large bowl with nonstick cooking spray or butter.</a:t>
              </a:r>
            </a:p>
            <a:p>
              <a:pPr algn="l">
                <a:lnSpc>
                  <a:spcPts val="3079"/>
                </a:lnSpc>
              </a:pPr>
            </a:p>
            <a:p>
              <a:pPr algn="l">
                <a:lnSpc>
                  <a:spcPts val="3079"/>
                </a:lnSpc>
              </a:pPr>
              <a:r>
                <a:rPr lang="en-US" sz="2199">
                  <a:solidFill>
                    <a:srgbClr val="000000"/>
                  </a:solidFill>
                  <a:latin typeface="HK Grotesk"/>
                  <a:ea typeface="HK Grotesk"/>
                  <a:cs typeface="HK Grotesk"/>
                  <a:sym typeface="HK Grotesk"/>
                </a:rPr>
                <a:t>2. Whisk the milk, egg yolks, and vanilla together in a 1-cup liquid measuring cup.</a:t>
              </a:r>
            </a:p>
            <a:p>
              <a:pPr algn="l">
                <a:lnSpc>
                  <a:spcPts val="3079"/>
                </a:lnSpc>
              </a:pPr>
            </a:p>
            <a:p>
              <a:pPr algn="l">
                <a:lnSpc>
                  <a:spcPts val="3079"/>
                </a:lnSpc>
              </a:pPr>
              <a:r>
                <a:rPr lang="en-US" sz="2199">
                  <a:solidFill>
                    <a:srgbClr val="000000"/>
                  </a:solidFill>
                  <a:latin typeface="HK Grotesk"/>
                  <a:ea typeface="HK Grotesk"/>
                  <a:cs typeface="HK Grotesk"/>
                  <a:sym typeface="HK Grotesk"/>
                </a:rPr>
                <a:t>3. Using stand mixer fitted with dough hook, mix the flour, potato flour (if using), sugar, yeast, cinnamon, and salt on low speed until combined. Slowly add the milk mixture and mix until dough comes together, about 2-3 minutes. Add a little water, 1 teaspoon at a time, if the dough appears dry.</a:t>
              </a:r>
            </a:p>
            <a:p>
              <a:pPr algn="l">
                <a:lnSpc>
                  <a:spcPts val="3079"/>
                </a:lnSpc>
              </a:pPr>
            </a:p>
            <a:p>
              <a:pPr algn="l">
                <a:lnSpc>
                  <a:spcPts val="3079"/>
                </a:lnSpc>
              </a:pPr>
              <a:r>
                <a:rPr lang="en-US" sz="2199">
                  <a:solidFill>
                    <a:srgbClr val="000000"/>
                  </a:solidFill>
                  <a:latin typeface="HK Grotesk"/>
                  <a:ea typeface="HK Grotesk"/>
                  <a:cs typeface="HK Grotesk"/>
                  <a:sym typeface="HK Grotesk"/>
                </a:rPr>
                <a:t>4. Increase speed to medium-low.  Cut the butter into 8 pieces and add the butter, 1 piece at a time, until incorporated, about 1 minute. </a:t>
              </a:r>
              <a:r>
                <a:rPr lang="en-US" sz="2199" u="sng">
                  <a:solidFill>
                    <a:srgbClr val="000000"/>
                  </a:solidFill>
                  <a:latin typeface="HK Grotesk"/>
                  <a:ea typeface="HK Grotesk"/>
                  <a:cs typeface="HK Grotesk"/>
                  <a:sym typeface="HK Grotesk"/>
                  <a:hlinkClick r:id="rId3" action="ppaction://hlinksldjump"/>
                </a:rPr>
                <a:t>Continue to mix until the dough is smooth and comes away from the sides of the bowl.</a:t>
              </a:r>
              <a:r>
                <a:rPr lang="en-US" sz="2199">
                  <a:solidFill>
                    <a:srgbClr val="000000"/>
                  </a:solidFill>
                  <a:latin typeface="HK Grotesk"/>
                  <a:ea typeface="HK Grotesk"/>
                  <a:cs typeface="HK Grotesk"/>
                  <a:sym typeface="HK Grotesk"/>
                </a:rPr>
                <a:t> This could take anywhere from 8 to 12 minutes. </a:t>
              </a:r>
            </a:p>
            <a:p>
              <a:pPr algn="l">
                <a:lnSpc>
                  <a:spcPts val="3079"/>
                </a:lnSpc>
              </a:pPr>
            </a:p>
          </p:txBody>
        </p:sp>
      </p:grpSp>
      <p:grpSp>
        <p:nvGrpSpPr>
          <p:cNvPr name="Group 6" id="6"/>
          <p:cNvGrpSpPr/>
          <p:nvPr/>
        </p:nvGrpSpPr>
        <p:grpSpPr>
          <a:xfrm rot="0">
            <a:off x="718118" y="1413583"/>
            <a:ext cx="2802437" cy="2510586"/>
            <a:chOff x="0" y="0"/>
            <a:chExt cx="3736583" cy="3347448"/>
          </a:xfrm>
        </p:grpSpPr>
        <p:sp>
          <p:nvSpPr>
            <p:cNvPr name="Freeform 7" id="7" descr="Dough at the start of mixing."/>
            <p:cNvSpPr/>
            <p:nvPr/>
          </p:nvSpPr>
          <p:spPr>
            <a:xfrm flipH="false" flipV="false" rot="0">
              <a:off x="0" y="0"/>
              <a:ext cx="3685783" cy="2745909"/>
            </a:xfrm>
            <a:custGeom>
              <a:avLst/>
              <a:gdLst/>
              <a:ahLst/>
              <a:cxnLst/>
              <a:rect r="r" b="b" t="t" l="l"/>
              <a:pathLst>
                <a:path h="2745909" w="3685783">
                  <a:moveTo>
                    <a:pt x="0" y="0"/>
                  </a:moveTo>
                  <a:lnTo>
                    <a:pt x="3685783" y="0"/>
                  </a:lnTo>
                  <a:lnTo>
                    <a:pt x="3685783" y="2745909"/>
                  </a:lnTo>
                  <a:lnTo>
                    <a:pt x="0" y="2745909"/>
                  </a:lnTo>
                  <a:lnTo>
                    <a:pt x="0" y="0"/>
                  </a:lnTo>
                  <a:close/>
                </a:path>
              </a:pathLst>
            </a:custGeom>
            <a:blipFill>
              <a:blip r:embed="rId4"/>
              <a:stretch>
                <a:fillRect l="0" t="-12552" r="0" b="-12552"/>
              </a:stretch>
            </a:blipFill>
            <a:ln w="9525" cap="sq">
              <a:solidFill>
                <a:srgbClr val="000000"/>
              </a:solidFill>
              <a:prstDash val="solid"/>
              <a:miter/>
            </a:ln>
          </p:spPr>
        </p:sp>
        <p:sp>
          <p:nvSpPr>
            <p:cNvPr name="TextBox 8" id="8"/>
            <p:cNvSpPr txBox="true"/>
            <p:nvPr/>
          </p:nvSpPr>
          <p:spPr>
            <a:xfrm rot="0">
              <a:off x="102399" y="2730034"/>
              <a:ext cx="3634184" cy="617414"/>
            </a:xfrm>
            <a:prstGeom prst="rect">
              <a:avLst/>
            </a:prstGeom>
          </p:spPr>
          <p:txBody>
            <a:bodyPr anchor="t" rtlCol="false" tIns="0" lIns="0" bIns="0" rIns="0">
              <a:spAutoFit/>
            </a:bodyPr>
            <a:lstStyle/>
            <a:p>
              <a:pPr algn="l">
                <a:lnSpc>
                  <a:spcPts val="1908"/>
                </a:lnSpc>
                <a:spcBef>
                  <a:spcPct val="0"/>
                </a:spcBef>
              </a:pPr>
              <a:r>
                <a:rPr lang="en-US" sz="1363">
                  <a:solidFill>
                    <a:srgbClr val="000000"/>
                  </a:solidFill>
                  <a:latin typeface="HK Grotesk"/>
                  <a:ea typeface="HK Grotesk"/>
                  <a:cs typeface="HK Grotesk"/>
                  <a:sym typeface="HK Grotesk"/>
                </a:rPr>
                <a:t>Dough should appear shaggy when the dough comes together.</a:t>
              </a:r>
            </a:p>
          </p:txBody>
        </p:sp>
      </p:grpSp>
      <p:grpSp>
        <p:nvGrpSpPr>
          <p:cNvPr name="Group 9" id="9"/>
          <p:cNvGrpSpPr/>
          <p:nvPr/>
        </p:nvGrpSpPr>
        <p:grpSpPr>
          <a:xfrm rot="0">
            <a:off x="718118" y="4219449"/>
            <a:ext cx="2764337" cy="2520111"/>
            <a:chOff x="0" y="0"/>
            <a:chExt cx="3685783" cy="3360148"/>
          </a:xfrm>
        </p:grpSpPr>
        <p:sp>
          <p:nvSpPr>
            <p:cNvPr name="Freeform 10" id="10" descr="Dough at the end of mixing."/>
            <p:cNvSpPr/>
            <p:nvPr/>
          </p:nvSpPr>
          <p:spPr>
            <a:xfrm flipH="false" flipV="false" rot="0">
              <a:off x="0" y="0"/>
              <a:ext cx="3685783" cy="2745909"/>
            </a:xfrm>
            <a:custGeom>
              <a:avLst/>
              <a:gdLst/>
              <a:ahLst/>
              <a:cxnLst/>
              <a:rect r="r" b="b" t="t" l="l"/>
              <a:pathLst>
                <a:path h="2745909" w="3685783">
                  <a:moveTo>
                    <a:pt x="0" y="0"/>
                  </a:moveTo>
                  <a:lnTo>
                    <a:pt x="3685783" y="0"/>
                  </a:lnTo>
                  <a:lnTo>
                    <a:pt x="3685783" y="2745909"/>
                  </a:lnTo>
                  <a:lnTo>
                    <a:pt x="0" y="2745909"/>
                  </a:lnTo>
                  <a:lnTo>
                    <a:pt x="0" y="0"/>
                  </a:lnTo>
                  <a:close/>
                </a:path>
              </a:pathLst>
            </a:custGeom>
            <a:blipFill>
              <a:blip r:embed="rId5"/>
              <a:stretch>
                <a:fillRect l="0" t="-274" r="0" b="-274"/>
              </a:stretch>
            </a:blipFill>
            <a:ln w="9525" cap="sq">
              <a:solidFill>
                <a:srgbClr val="000000"/>
              </a:solidFill>
              <a:prstDash val="solid"/>
              <a:miter/>
            </a:ln>
          </p:spPr>
        </p:sp>
        <p:sp>
          <p:nvSpPr>
            <p:cNvPr name="TextBox 11" id="11"/>
            <p:cNvSpPr txBox="true"/>
            <p:nvPr/>
          </p:nvSpPr>
          <p:spPr>
            <a:xfrm rot="0">
              <a:off x="51599" y="2742734"/>
              <a:ext cx="3634184" cy="617414"/>
            </a:xfrm>
            <a:prstGeom prst="rect">
              <a:avLst/>
            </a:prstGeom>
          </p:spPr>
          <p:txBody>
            <a:bodyPr anchor="t" rtlCol="false" tIns="0" lIns="0" bIns="0" rIns="0">
              <a:spAutoFit/>
            </a:bodyPr>
            <a:lstStyle/>
            <a:p>
              <a:pPr algn="l">
                <a:lnSpc>
                  <a:spcPts val="1908"/>
                </a:lnSpc>
                <a:spcBef>
                  <a:spcPct val="0"/>
                </a:spcBef>
              </a:pPr>
              <a:r>
                <a:rPr lang="en-US" sz="1363">
                  <a:solidFill>
                    <a:srgbClr val="000000"/>
                  </a:solidFill>
                  <a:latin typeface="HK Grotesk"/>
                  <a:ea typeface="HK Grotesk"/>
                  <a:cs typeface="HK Grotesk"/>
                  <a:sym typeface="HK Grotesk"/>
                </a:rPr>
                <a:t>Stop mixing when the dough comes away from the bowl and is smooth.</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5F5EF"/>
        </a:solidFill>
      </p:bgPr>
    </p:bg>
    <p:spTree>
      <p:nvGrpSpPr>
        <p:cNvPr id="1" name=""/>
        <p:cNvGrpSpPr/>
        <p:nvPr/>
      </p:nvGrpSpPr>
      <p:grpSpPr>
        <a:xfrm>
          <a:off x="0" y="0"/>
          <a:ext cx="0" cy="0"/>
          <a:chOff x="0" y="0"/>
          <a:chExt cx="0" cy="0"/>
        </a:xfrm>
      </p:grpSpPr>
      <p:sp>
        <p:nvSpPr>
          <p:cNvPr name="TextBox 2" id="2"/>
          <p:cNvSpPr txBox="true"/>
          <p:nvPr/>
        </p:nvSpPr>
        <p:spPr>
          <a:xfrm rot="0">
            <a:off x="1360819" y="4619794"/>
            <a:ext cx="1478936" cy="280670"/>
          </a:xfrm>
          <a:prstGeom prst="rect">
            <a:avLst/>
          </a:prstGeom>
        </p:spPr>
        <p:txBody>
          <a:bodyPr anchor="t" rtlCol="false" tIns="0" lIns="0" bIns="0" rIns="0">
            <a:spAutoFit/>
          </a:bodyPr>
          <a:lstStyle/>
          <a:p>
            <a:pPr algn="ctr">
              <a:lnSpc>
                <a:spcPts val="2380"/>
              </a:lnSpc>
            </a:pPr>
            <a:r>
              <a:rPr lang="en-US" b="true" sz="1700" u="sng">
                <a:solidFill>
                  <a:srgbClr val="FFFFFF"/>
                </a:solidFill>
                <a:latin typeface="HK Grotesk Semi-Bold"/>
                <a:ea typeface="HK Grotesk Semi-Bold"/>
                <a:cs typeface="HK Grotesk Semi-Bold"/>
                <a:sym typeface="HK Grotesk Semi-Bold"/>
                <a:hlinkClick r:id="rId2" action="ppaction://hlinksldjump"/>
              </a:rPr>
              <a:t>Home</a:t>
            </a:r>
          </a:p>
        </p:txBody>
      </p:sp>
      <p:sp>
        <p:nvSpPr>
          <p:cNvPr name="TextBox 3" id="3"/>
          <p:cNvSpPr txBox="true"/>
          <p:nvPr/>
        </p:nvSpPr>
        <p:spPr>
          <a:xfrm rot="0">
            <a:off x="3975083" y="-86498"/>
            <a:ext cx="7230542" cy="596900"/>
          </a:xfrm>
          <a:prstGeom prst="rect">
            <a:avLst/>
          </a:prstGeom>
        </p:spPr>
        <p:txBody>
          <a:bodyPr anchor="t" rtlCol="false" tIns="0" lIns="0" bIns="0" rIns="0">
            <a:spAutoFit/>
          </a:bodyPr>
          <a:lstStyle/>
          <a:p>
            <a:pPr algn="l">
              <a:lnSpc>
                <a:spcPts val="4900"/>
              </a:lnSpc>
            </a:pPr>
          </a:p>
        </p:txBody>
      </p:sp>
      <p:sp>
        <p:nvSpPr>
          <p:cNvPr name="TextBox 4" id="4"/>
          <p:cNvSpPr txBox="true"/>
          <p:nvPr/>
        </p:nvSpPr>
        <p:spPr>
          <a:xfrm rot="0">
            <a:off x="3975083" y="703179"/>
            <a:ext cx="7828456" cy="2725420"/>
          </a:xfrm>
          <a:prstGeom prst="rect">
            <a:avLst/>
          </a:prstGeom>
        </p:spPr>
        <p:txBody>
          <a:bodyPr anchor="t" rtlCol="false" tIns="0" lIns="0" bIns="0" rIns="0">
            <a:spAutoFit/>
          </a:bodyPr>
          <a:lstStyle/>
          <a:p>
            <a:pPr algn="l">
              <a:lnSpc>
                <a:spcPts val="3079"/>
              </a:lnSpc>
            </a:pPr>
            <a:r>
              <a:rPr lang="en-US" sz="2199">
                <a:solidFill>
                  <a:srgbClr val="000000"/>
                </a:solidFill>
                <a:latin typeface="HK Grotesk"/>
                <a:ea typeface="HK Grotesk"/>
                <a:cs typeface="HK Grotesk"/>
                <a:sym typeface="HK Grotesk"/>
              </a:rPr>
              <a:t>5. Transfer the dough to the greased bowl, cover with plastic wrap, and place on a counter at room temperature until it has doubled in size.  This could take </a:t>
            </a:r>
            <a:r>
              <a:rPr lang="en-US" sz="2199" u="sng">
                <a:solidFill>
                  <a:srgbClr val="000000"/>
                </a:solidFill>
                <a:latin typeface="HK Grotesk"/>
                <a:ea typeface="HK Grotesk"/>
                <a:cs typeface="HK Grotesk"/>
                <a:sym typeface="HK Grotesk"/>
                <a:hlinkClick r:id="rId3" action="ppaction://hlinksldjump"/>
              </a:rPr>
              <a:t>1-2 hours</a:t>
            </a:r>
            <a:r>
              <a:rPr lang="en-US" sz="2199">
                <a:solidFill>
                  <a:srgbClr val="000000"/>
                </a:solidFill>
                <a:latin typeface="HK Grotesk"/>
                <a:ea typeface="HK Grotesk"/>
                <a:cs typeface="HK Grotesk"/>
                <a:sym typeface="HK Grotesk"/>
              </a:rPr>
              <a:t>. </a:t>
            </a:r>
          </a:p>
          <a:p>
            <a:pPr algn="l">
              <a:lnSpc>
                <a:spcPts val="3079"/>
              </a:lnSpc>
            </a:pPr>
          </a:p>
          <a:p>
            <a:pPr algn="l">
              <a:lnSpc>
                <a:spcPts val="3079"/>
              </a:lnSpc>
            </a:pPr>
            <a:r>
              <a:rPr lang="en-US" sz="2199">
                <a:solidFill>
                  <a:srgbClr val="000000"/>
                </a:solidFill>
                <a:latin typeface="HK Grotesk"/>
                <a:ea typeface="HK Grotesk"/>
                <a:cs typeface="HK Grotesk"/>
                <a:sym typeface="HK Grotesk"/>
              </a:rPr>
              <a:t>6. </a:t>
            </a:r>
            <a:r>
              <a:rPr lang="en-US" sz="2199">
                <a:solidFill>
                  <a:srgbClr val="000000"/>
                </a:solidFill>
                <a:latin typeface="HK Grotesk"/>
                <a:ea typeface="HK Grotesk"/>
                <a:cs typeface="HK Grotesk"/>
                <a:sym typeface="HK Grotesk"/>
              </a:rPr>
              <a:t>Place the dough into the refrigerator until firm, about 1 hour.  This makes the dough much easier to roll out and shape.  While the dough is chilling, prepare the filling.</a:t>
            </a:r>
          </a:p>
        </p:txBody>
      </p:sp>
      <p:sp>
        <p:nvSpPr>
          <p:cNvPr name="TextBox 5" id="5"/>
          <p:cNvSpPr txBox="true"/>
          <p:nvPr/>
        </p:nvSpPr>
        <p:spPr>
          <a:xfrm rot="0">
            <a:off x="3975083" y="3844590"/>
            <a:ext cx="7828456" cy="596900"/>
          </a:xfrm>
          <a:prstGeom prst="rect">
            <a:avLst/>
          </a:prstGeom>
        </p:spPr>
        <p:txBody>
          <a:bodyPr anchor="t" rtlCol="false" tIns="0" lIns="0" bIns="0" rIns="0">
            <a:spAutoFit/>
          </a:bodyPr>
          <a:lstStyle/>
          <a:p>
            <a:pPr algn="l">
              <a:lnSpc>
                <a:spcPts val="4900"/>
              </a:lnSpc>
            </a:pPr>
            <a:r>
              <a:rPr lang="en-US" sz="3500">
                <a:solidFill>
                  <a:srgbClr val="000000"/>
                </a:solidFill>
                <a:latin typeface="Hammersmith One"/>
                <a:ea typeface="Hammersmith One"/>
                <a:cs typeface="Hammersmith One"/>
                <a:sym typeface="Hammersmith One"/>
              </a:rPr>
              <a:t>PREPARE THE FILLING</a:t>
            </a:r>
          </a:p>
        </p:txBody>
      </p:sp>
      <p:sp>
        <p:nvSpPr>
          <p:cNvPr name="TextBox 6" id="6"/>
          <p:cNvSpPr txBox="true"/>
          <p:nvPr/>
        </p:nvSpPr>
        <p:spPr>
          <a:xfrm rot="0">
            <a:off x="3975083" y="4634267"/>
            <a:ext cx="7828456" cy="1464945"/>
          </a:xfrm>
          <a:prstGeom prst="rect">
            <a:avLst/>
          </a:prstGeom>
        </p:spPr>
        <p:txBody>
          <a:bodyPr anchor="t" rtlCol="false" tIns="0" lIns="0" bIns="0" rIns="0">
            <a:spAutoFit/>
          </a:bodyPr>
          <a:lstStyle/>
          <a:p>
            <a:pPr algn="l">
              <a:lnSpc>
                <a:spcPts val="3079"/>
              </a:lnSpc>
            </a:pPr>
            <a:r>
              <a:rPr lang="en-US" sz="2199">
                <a:solidFill>
                  <a:srgbClr val="000000"/>
                </a:solidFill>
                <a:latin typeface="HK Grotesk"/>
                <a:ea typeface="HK Grotesk"/>
                <a:cs typeface="HK Grotesk"/>
                <a:sym typeface="HK Grotesk"/>
              </a:rPr>
              <a:t>1. Combine all of the filling ingredients except for the raisins and walnuts (if using) in a medium bowl. Keep the walnuts and raisins separate until shaping the loaf. </a:t>
            </a:r>
          </a:p>
          <a:p>
            <a:pPr algn="l">
              <a:lnSpc>
                <a:spcPts val="2380"/>
              </a:lnSpc>
            </a:pPr>
          </a:p>
        </p:txBody>
      </p:sp>
      <p:grpSp>
        <p:nvGrpSpPr>
          <p:cNvPr name="Group 7" id="7"/>
          <p:cNvGrpSpPr/>
          <p:nvPr/>
        </p:nvGrpSpPr>
        <p:grpSpPr>
          <a:xfrm rot="0">
            <a:off x="718152" y="731520"/>
            <a:ext cx="2764337" cy="2291511"/>
            <a:chOff x="0" y="0"/>
            <a:chExt cx="3685783" cy="3055348"/>
          </a:xfrm>
        </p:grpSpPr>
        <p:sp>
          <p:nvSpPr>
            <p:cNvPr name="Freeform 8" id="8" descr="Dough ball before rising."/>
            <p:cNvSpPr/>
            <p:nvPr/>
          </p:nvSpPr>
          <p:spPr>
            <a:xfrm flipH="false" flipV="false" rot="0">
              <a:off x="0" y="0"/>
              <a:ext cx="3685783" cy="2745909"/>
            </a:xfrm>
            <a:custGeom>
              <a:avLst/>
              <a:gdLst/>
              <a:ahLst/>
              <a:cxnLst/>
              <a:rect r="r" b="b" t="t" l="l"/>
              <a:pathLst>
                <a:path h="2745909" w="3685783">
                  <a:moveTo>
                    <a:pt x="0" y="0"/>
                  </a:moveTo>
                  <a:lnTo>
                    <a:pt x="3685783" y="0"/>
                  </a:lnTo>
                  <a:lnTo>
                    <a:pt x="3685783" y="2745909"/>
                  </a:lnTo>
                  <a:lnTo>
                    <a:pt x="0" y="2745909"/>
                  </a:lnTo>
                  <a:lnTo>
                    <a:pt x="0" y="0"/>
                  </a:lnTo>
                  <a:close/>
                </a:path>
              </a:pathLst>
            </a:custGeom>
            <a:blipFill>
              <a:blip r:embed="rId4"/>
              <a:stretch>
                <a:fillRect l="0" t="-274" r="0" b="-274"/>
              </a:stretch>
            </a:blipFill>
            <a:ln w="9525" cap="sq">
              <a:solidFill>
                <a:srgbClr val="000000"/>
              </a:solidFill>
              <a:prstDash val="solid"/>
              <a:miter/>
            </a:ln>
          </p:spPr>
        </p:sp>
        <p:sp>
          <p:nvSpPr>
            <p:cNvPr name="TextBox 9" id="9"/>
            <p:cNvSpPr txBox="true"/>
            <p:nvPr/>
          </p:nvSpPr>
          <p:spPr>
            <a:xfrm rot="0">
              <a:off x="43668" y="2755434"/>
              <a:ext cx="3634184" cy="299914"/>
            </a:xfrm>
            <a:prstGeom prst="rect">
              <a:avLst/>
            </a:prstGeom>
          </p:spPr>
          <p:txBody>
            <a:bodyPr anchor="t" rtlCol="false" tIns="0" lIns="0" bIns="0" rIns="0">
              <a:spAutoFit/>
            </a:bodyPr>
            <a:lstStyle/>
            <a:p>
              <a:pPr algn="l">
                <a:lnSpc>
                  <a:spcPts val="1908"/>
                </a:lnSpc>
                <a:spcBef>
                  <a:spcPct val="0"/>
                </a:spcBef>
              </a:pPr>
              <a:r>
                <a:rPr lang="en-US" sz="1363">
                  <a:solidFill>
                    <a:srgbClr val="000000"/>
                  </a:solidFill>
                  <a:latin typeface="HK Grotesk"/>
                  <a:ea typeface="HK Grotesk"/>
                  <a:cs typeface="HK Grotesk"/>
                  <a:sym typeface="HK Grotesk"/>
                </a:rPr>
                <a:t>Dough before rising.</a:t>
              </a:r>
            </a:p>
          </p:txBody>
        </p:sp>
      </p:grpSp>
      <p:grpSp>
        <p:nvGrpSpPr>
          <p:cNvPr name="Group 10" id="10"/>
          <p:cNvGrpSpPr/>
          <p:nvPr/>
        </p:nvGrpSpPr>
        <p:grpSpPr>
          <a:xfrm rot="0">
            <a:off x="731553" y="3371449"/>
            <a:ext cx="2764337" cy="2548686"/>
            <a:chOff x="0" y="0"/>
            <a:chExt cx="3685783" cy="3398248"/>
          </a:xfrm>
        </p:grpSpPr>
        <p:sp>
          <p:nvSpPr>
            <p:cNvPr name="Freeform 11" id="11" descr="Dough ball after rising."/>
            <p:cNvSpPr/>
            <p:nvPr/>
          </p:nvSpPr>
          <p:spPr>
            <a:xfrm flipH="false" flipV="false" rot="0">
              <a:off x="0" y="0"/>
              <a:ext cx="3685783" cy="2745909"/>
            </a:xfrm>
            <a:custGeom>
              <a:avLst/>
              <a:gdLst/>
              <a:ahLst/>
              <a:cxnLst/>
              <a:rect r="r" b="b" t="t" l="l"/>
              <a:pathLst>
                <a:path h="2745909" w="3685783">
                  <a:moveTo>
                    <a:pt x="0" y="0"/>
                  </a:moveTo>
                  <a:lnTo>
                    <a:pt x="3685783" y="0"/>
                  </a:lnTo>
                  <a:lnTo>
                    <a:pt x="3685783" y="2745909"/>
                  </a:lnTo>
                  <a:lnTo>
                    <a:pt x="0" y="2745909"/>
                  </a:lnTo>
                  <a:lnTo>
                    <a:pt x="0" y="0"/>
                  </a:lnTo>
                  <a:close/>
                </a:path>
              </a:pathLst>
            </a:custGeom>
            <a:blipFill>
              <a:blip r:embed="rId5"/>
              <a:stretch>
                <a:fillRect l="0" t="-9395" r="0" b="-9395"/>
              </a:stretch>
            </a:blipFill>
            <a:ln w="9525" cap="sq">
              <a:solidFill>
                <a:srgbClr val="000000"/>
              </a:solidFill>
              <a:prstDash val="solid"/>
              <a:miter/>
            </a:ln>
          </p:spPr>
        </p:sp>
        <p:sp>
          <p:nvSpPr>
            <p:cNvPr name="TextBox 12" id="12"/>
            <p:cNvSpPr txBox="true"/>
            <p:nvPr/>
          </p:nvSpPr>
          <p:spPr>
            <a:xfrm rot="0">
              <a:off x="33730" y="2780834"/>
              <a:ext cx="3634184" cy="617414"/>
            </a:xfrm>
            <a:prstGeom prst="rect">
              <a:avLst/>
            </a:prstGeom>
          </p:spPr>
          <p:txBody>
            <a:bodyPr anchor="t" rtlCol="false" tIns="0" lIns="0" bIns="0" rIns="0">
              <a:spAutoFit/>
            </a:bodyPr>
            <a:lstStyle/>
            <a:p>
              <a:pPr algn="l">
                <a:lnSpc>
                  <a:spcPts val="1908"/>
                </a:lnSpc>
                <a:spcBef>
                  <a:spcPct val="0"/>
                </a:spcBef>
              </a:pPr>
              <a:r>
                <a:rPr lang="en-US" sz="1363">
                  <a:solidFill>
                    <a:srgbClr val="000000"/>
                  </a:solidFill>
                  <a:latin typeface="HK Grotesk"/>
                  <a:ea typeface="HK Grotesk"/>
                  <a:cs typeface="HK Grotesk"/>
                  <a:sym typeface="HK Grotesk"/>
                </a:rPr>
                <a:t>After rising, the dough should be roughly double in size. </a:t>
              </a: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5F5EF"/>
        </a:solidFill>
      </p:bgPr>
    </p:bg>
    <p:spTree>
      <p:nvGrpSpPr>
        <p:cNvPr id="1" name=""/>
        <p:cNvGrpSpPr/>
        <p:nvPr/>
      </p:nvGrpSpPr>
      <p:grpSpPr>
        <a:xfrm>
          <a:off x="0" y="0"/>
          <a:ext cx="0" cy="0"/>
          <a:chOff x="0" y="0"/>
          <a:chExt cx="0" cy="0"/>
        </a:xfrm>
      </p:grpSpPr>
      <p:grpSp>
        <p:nvGrpSpPr>
          <p:cNvPr name="Group 2" id="2"/>
          <p:cNvGrpSpPr/>
          <p:nvPr/>
        </p:nvGrpSpPr>
        <p:grpSpPr>
          <a:xfrm rot="0">
            <a:off x="5357971" y="613093"/>
            <a:ext cx="7310229" cy="5952862"/>
            <a:chOff x="0" y="0"/>
            <a:chExt cx="9746973" cy="7937149"/>
          </a:xfrm>
        </p:grpSpPr>
        <p:sp>
          <p:nvSpPr>
            <p:cNvPr name="TextBox 3" id="3"/>
            <p:cNvSpPr txBox="true"/>
            <p:nvPr/>
          </p:nvSpPr>
          <p:spPr>
            <a:xfrm rot="0">
              <a:off x="0" y="-66675"/>
              <a:ext cx="9746973" cy="773642"/>
            </a:xfrm>
            <a:prstGeom prst="rect">
              <a:avLst/>
            </a:prstGeom>
          </p:spPr>
          <p:txBody>
            <a:bodyPr anchor="t" rtlCol="false" tIns="0" lIns="0" bIns="0" rIns="0">
              <a:spAutoFit/>
            </a:bodyPr>
            <a:lstStyle/>
            <a:p>
              <a:pPr algn="l">
                <a:lnSpc>
                  <a:spcPts val="4900"/>
                </a:lnSpc>
              </a:pPr>
              <a:r>
                <a:rPr lang="en-US" sz="3500">
                  <a:solidFill>
                    <a:srgbClr val="000000"/>
                  </a:solidFill>
                  <a:latin typeface="Hammersmith One"/>
                  <a:ea typeface="Hammersmith One"/>
                  <a:cs typeface="Hammersmith One"/>
                  <a:sym typeface="Hammersmith One"/>
                </a:rPr>
                <a:t>SHAPE THE DOUGH</a:t>
              </a:r>
            </a:p>
          </p:txBody>
        </p:sp>
        <p:sp>
          <p:nvSpPr>
            <p:cNvPr name="TextBox 4" id="4"/>
            <p:cNvSpPr txBox="true"/>
            <p:nvPr/>
          </p:nvSpPr>
          <p:spPr>
            <a:xfrm rot="0">
              <a:off x="0" y="979877"/>
              <a:ext cx="9746973" cy="6957272"/>
            </a:xfrm>
            <a:prstGeom prst="rect">
              <a:avLst/>
            </a:prstGeom>
          </p:spPr>
          <p:txBody>
            <a:bodyPr anchor="t" rtlCol="false" tIns="0" lIns="0" bIns="0" rIns="0">
              <a:spAutoFit/>
            </a:bodyPr>
            <a:lstStyle/>
            <a:p>
              <a:pPr algn="l">
                <a:lnSpc>
                  <a:spcPts val="2799"/>
                </a:lnSpc>
              </a:pPr>
              <a:r>
                <a:rPr lang="en-US" sz="1999">
                  <a:solidFill>
                    <a:srgbClr val="000000"/>
                  </a:solidFill>
                  <a:latin typeface="HK Grotesk"/>
                  <a:ea typeface="HK Grotesk"/>
                  <a:cs typeface="HK Grotesk"/>
                  <a:sym typeface="HK Grotesk"/>
                </a:rPr>
                <a:t>1. Spray an 8½ by 4½-inch loaf pan with nonstick spray.</a:t>
              </a:r>
            </a:p>
            <a:p>
              <a:pPr algn="l">
                <a:lnSpc>
                  <a:spcPts val="2799"/>
                </a:lnSpc>
              </a:pPr>
            </a:p>
            <a:p>
              <a:pPr algn="l">
                <a:lnSpc>
                  <a:spcPts val="2799"/>
                </a:lnSpc>
              </a:pPr>
              <a:r>
                <a:rPr lang="en-US" sz="1999">
                  <a:solidFill>
                    <a:srgbClr val="000000"/>
                  </a:solidFill>
                  <a:latin typeface="HK Grotesk"/>
                  <a:ea typeface="HK Grotesk"/>
                  <a:cs typeface="HK Grotesk"/>
                  <a:sym typeface="HK Grotesk"/>
                </a:rPr>
                <a:t>2. </a:t>
              </a:r>
              <a:r>
                <a:rPr lang="en-US" sz="1999">
                  <a:solidFill>
                    <a:srgbClr val="000000"/>
                  </a:solidFill>
                  <a:latin typeface="HK Grotesk"/>
                  <a:ea typeface="HK Grotesk"/>
                  <a:cs typeface="HK Grotesk"/>
                  <a:sym typeface="HK Grotesk"/>
                </a:rPr>
                <a:t>Remove the dough from the refrigerator, uncover, and scrape the dough from the bowl onto a lightly floured counter. </a:t>
              </a:r>
            </a:p>
            <a:p>
              <a:pPr algn="l">
                <a:lnSpc>
                  <a:spcPts val="2799"/>
                </a:lnSpc>
              </a:pPr>
            </a:p>
            <a:p>
              <a:pPr algn="l">
                <a:lnSpc>
                  <a:spcPts val="2799"/>
                </a:lnSpc>
              </a:pPr>
              <a:r>
                <a:rPr lang="en-US" sz="1999">
                  <a:solidFill>
                    <a:srgbClr val="000000"/>
                  </a:solidFill>
                  <a:latin typeface="HK Grotesk"/>
                  <a:ea typeface="HK Grotesk"/>
                  <a:cs typeface="HK Grotesk"/>
                  <a:sym typeface="HK Grotesk"/>
                </a:rPr>
                <a:t>3. </a:t>
              </a:r>
              <a:r>
                <a:rPr lang="en-US" sz="1999">
                  <a:solidFill>
                    <a:srgbClr val="000000"/>
                  </a:solidFill>
                  <a:latin typeface="HK Grotesk"/>
                  <a:ea typeface="HK Grotesk"/>
                  <a:cs typeface="HK Grotesk"/>
                  <a:sym typeface="HK Grotesk"/>
                </a:rPr>
                <a:t>Using a rolling pin, roll the dough out to a 16" x10" rectangle (this is approximate...it does not need to be exact).  </a:t>
              </a:r>
            </a:p>
            <a:p>
              <a:pPr algn="l">
                <a:lnSpc>
                  <a:spcPts val="2799"/>
                </a:lnSpc>
              </a:pPr>
            </a:p>
            <a:p>
              <a:pPr algn="l">
                <a:lnSpc>
                  <a:spcPts val="2799"/>
                </a:lnSpc>
              </a:pPr>
              <a:r>
                <a:rPr lang="en-US" sz="1999">
                  <a:solidFill>
                    <a:srgbClr val="000000"/>
                  </a:solidFill>
                  <a:latin typeface="HK Grotesk"/>
                  <a:ea typeface="HK Grotesk"/>
                  <a:cs typeface="HK Grotesk"/>
                  <a:sym typeface="HK Grotesk"/>
                </a:rPr>
                <a:t>4. </a:t>
              </a:r>
              <a:r>
                <a:rPr lang="en-US" sz="1999">
                  <a:solidFill>
                    <a:srgbClr val="000000"/>
                  </a:solidFill>
                  <a:latin typeface="HK Grotesk"/>
                  <a:ea typeface="HK Grotesk"/>
                  <a:cs typeface="HK Grotesk"/>
                  <a:sym typeface="HK Grotesk"/>
                </a:rPr>
                <a:t>Using an </a:t>
              </a:r>
              <a:r>
                <a:rPr lang="en-US" sz="1999" u="sng">
                  <a:solidFill>
                    <a:srgbClr val="000000"/>
                  </a:solidFill>
                  <a:latin typeface="HK Grotesk"/>
                  <a:ea typeface="HK Grotesk"/>
                  <a:cs typeface="HK Grotesk"/>
                  <a:sym typeface="HK Grotesk"/>
                  <a:hlinkClick r:id="rId2" action="ppaction://hlinksldjump"/>
                </a:rPr>
                <a:t>offset spatula</a:t>
              </a:r>
              <a:r>
                <a:rPr lang="en-US" sz="1999">
                  <a:solidFill>
                    <a:srgbClr val="000000"/>
                  </a:solidFill>
                  <a:latin typeface="HK Grotesk"/>
                  <a:ea typeface="HK Grotesk"/>
                  <a:cs typeface="HK Grotesk"/>
                  <a:sym typeface="HK Grotesk"/>
                </a:rPr>
                <a:t>, spread the filling over the dough, leaving a ½-inch border around edges. If using walnuts and raisins, scatter them over the filling.</a:t>
              </a:r>
            </a:p>
            <a:p>
              <a:pPr algn="l">
                <a:lnSpc>
                  <a:spcPts val="2799"/>
                </a:lnSpc>
              </a:pPr>
            </a:p>
            <a:p>
              <a:pPr algn="l">
                <a:lnSpc>
                  <a:spcPts val="2799"/>
                </a:lnSpc>
              </a:pPr>
              <a:r>
                <a:rPr lang="en-US" sz="1999">
                  <a:solidFill>
                    <a:srgbClr val="000000"/>
                  </a:solidFill>
                  <a:latin typeface="HK Grotesk"/>
                  <a:ea typeface="HK Grotesk"/>
                  <a:cs typeface="HK Grotesk"/>
                  <a:sym typeface="HK Grotesk"/>
                </a:rPr>
                <a:t>5. </a:t>
              </a:r>
              <a:r>
                <a:rPr lang="en-US" sz="1999">
                  <a:solidFill>
                    <a:srgbClr val="000000"/>
                  </a:solidFill>
                  <a:latin typeface="HK Grotesk"/>
                  <a:ea typeface="HK Grotesk"/>
                  <a:cs typeface="HK Grotesk"/>
                  <a:sym typeface="HK Grotesk"/>
                </a:rPr>
                <a:t>Beginning with one of the short sides, roll up the dough into a log and pinch the long seam to seal so that the log doesn’t unroll.</a:t>
              </a:r>
            </a:p>
            <a:p>
              <a:pPr algn="l">
                <a:lnSpc>
                  <a:spcPts val="2380"/>
                </a:lnSpc>
              </a:pPr>
            </a:p>
          </p:txBody>
        </p:sp>
      </p:grpSp>
      <p:grpSp>
        <p:nvGrpSpPr>
          <p:cNvPr name="Group 5" id="5"/>
          <p:cNvGrpSpPr/>
          <p:nvPr/>
        </p:nvGrpSpPr>
        <p:grpSpPr>
          <a:xfrm rot="0">
            <a:off x="364077" y="731520"/>
            <a:ext cx="2163228" cy="3122590"/>
            <a:chOff x="0" y="0"/>
            <a:chExt cx="2884304" cy="4163454"/>
          </a:xfrm>
        </p:grpSpPr>
        <p:sp>
          <p:nvSpPr>
            <p:cNvPr name="Freeform 6" id="6" descr="Rolling out the dough into a rectangle."/>
            <p:cNvSpPr/>
            <p:nvPr/>
          </p:nvSpPr>
          <p:spPr>
            <a:xfrm flipH="false" flipV="false" rot="0">
              <a:off x="0" y="0"/>
              <a:ext cx="2884304" cy="3845738"/>
            </a:xfrm>
            <a:custGeom>
              <a:avLst/>
              <a:gdLst/>
              <a:ahLst/>
              <a:cxnLst/>
              <a:rect r="r" b="b" t="t" l="l"/>
              <a:pathLst>
                <a:path h="3845738" w="2884304">
                  <a:moveTo>
                    <a:pt x="0" y="0"/>
                  </a:moveTo>
                  <a:lnTo>
                    <a:pt x="2884304" y="0"/>
                  </a:lnTo>
                  <a:lnTo>
                    <a:pt x="2884304" y="3845738"/>
                  </a:lnTo>
                  <a:lnTo>
                    <a:pt x="0" y="3845738"/>
                  </a:lnTo>
                  <a:lnTo>
                    <a:pt x="0" y="0"/>
                  </a:lnTo>
                  <a:close/>
                </a:path>
              </a:pathLst>
            </a:custGeom>
            <a:blipFill>
              <a:blip r:embed="rId3"/>
              <a:stretch>
                <a:fillRect l="0" t="0" r="0" b="0"/>
              </a:stretch>
            </a:blipFill>
            <a:ln w="9525" cap="sq">
              <a:solidFill>
                <a:srgbClr val="000000"/>
              </a:solidFill>
              <a:prstDash val="solid"/>
              <a:miter/>
            </a:ln>
          </p:spPr>
        </p:sp>
        <p:sp>
          <p:nvSpPr>
            <p:cNvPr name="TextBox 7" id="7"/>
            <p:cNvSpPr txBox="true"/>
            <p:nvPr/>
          </p:nvSpPr>
          <p:spPr>
            <a:xfrm rot="0">
              <a:off x="0" y="3842563"/>
              <a:ext cx="2884304" cy="320891"/>
            </a:xfrm>
            <a:prstGeom prst="rect">
              <a:avLst/>
            </a:prstGeom>
          </p:spPr>
          <p:txBody>
            <a:bodyPr anchor="t" rtlCol="false" tIns="0" lIns="0" bIns="0" rIns="0">
              <a:spAutoFit/>
            </a:bodyPr>
            <a:lstStyle/>
            <a:p>
              <a:pPr algn="ctr">
                <a:lnSpc>
                  <a:spcPts val="2091"/>
                </a:lnSpc>
                <a:spcBef>
                  <a:spcPct val="0"/>
                </a:spcBef>
              </a:pPr>
              <a:r>
                <a:rPr lang="en-US" sz="1493">
                  <a:solidFill>
                    <a:srgbClr val="000000"/>
                  </a:solidFill>
                  <a:latin typeface="HK Grotesk"/>
                  <a:ea typeface="HK Grotesk"/>
                  <a:cs typeface="HK Grotesk"/>
                  <a:sym typeface="HK Grotesk"/>
                </a:rPr>
                <a:t>Roll out the dough.</a:t>
              </a:r>
            </a:p>
          </p:txBody>
        </p:sp>
      </p:grpSp>
      <p:grpSp>
        <p:nvGrpSpPr>
          <p:cNvPr name="Group 8" id="8"/>
          <p:cNvGrpSpPr/>
          <p:nvPr/>
        </p:nvGrpSpPr>
        <p:grpSpPr>
          <a:xfrm rot="0">
            <a:off x="2706635" y="731520"/>
            <a:ext cx="2172753" cy="3122590"/>
            <a:chOff x="0" y="0"/>
            <a:chExt cx="2897004" cy="4163454"/>
          </a:xfrm>
        </p:grpSpPr>
        <p:sp>
          <p:nvSpPr>
            <p:cNvPr name="Freeform 9" id="9" descr="Spreading the filling over the dough rectangle."/>
            <p:cNvSpPr/>
            <p:nvPr/>
          </p:nvSpPr>
          <p:spPr>
            <a:xfrm flipH="false" flipV="false" rot="0">
              <a:off x="0" y="0"/>
              <a:ext cx="2884304" cy="3845738"/>
            </a:xfrm>
            <a:custGeom>
              <a:avLst/>
              <a:gdLst/>
              <a:ahLst/>
              <a:cxnLst/>
              <a:rect r="r" b="b" t="t" l="l"/>
              <a:pathLst>
                <a:path h="3845738" w="2884304">
                  <a:moveTo>
                    <a:pt x="0" y="0"/>
                  </a:moveTo>
                  <a:lnTo>
                    <a:pt x="2884304" y="0"/>
                  </a:lnTo>
                  <a:lnTo>
                    <a:pt x="2884304" y="3845738"/>
                  </a:lnTo>
                  <a:lnTo>
                    <a:pt x="0" y="3845738"/>
                  </a:lnTo>
                  <a:lnTo>
                    <a:pt x="0" y="0"/>
                  </a:lnTo>
                  <a:close/>
                </a:path>
              </a:pathLst>
            </a:custGeom>
            <a:blipFill>
              <a:blip r:embed="rId4"/>
              <a:stretch>
                <a:fillRect l="0" t="-60" r="0" b="-60"/>
              </a:stretch>
            </a:blipFill>
            <a:ln w="9525" cap="sq">
              <a:solidFill>
                <a:srgbClr val="000000"/>
              </a:solidFill>
              <a:prstDash val="solid"/>
              <a:miter/>
            </a:ln>
          </p:spPr>
        </p:sp>
        <p:sp>
          <p:nvSpPr>
            <p:cNvPr name="TextBox 10" id="10"/>
            <p:cNvSpPr txBox="true"/>
            <p:nvPr/>
          </p:nvSpPr>
          <p:spPr>
            <a:xfrm rot="0">
              <a:off x="12700" y="3842563"/>
              <a:ext cx="2884304" cy="320891"/>
            </a:xfrm>
            <a:prstGeom prst="rect">
              <a:avLst/>
            </a:prstGeom>
          </p:spPr>
          <p:txBody>
            <a:bodyPr anchor="t" rtlCol="false" tIns="0" lIns="0" bIns="0" rIns="0">
              <a:spAutoFit/>
            </a:bodyPr>
            <a:lstStyle/>
            <a:p>
              <a:pPr algn="ctr">
                <a:lnSpc>
                  <a:spcPts val="2091"/>
                </a:lnSpc>
                <a:spcBef>
                  <a:spcPct val="0"/>
                </a:spcBef>
              </a:pPr>
              <a:r>
                <a:rPr lang="en-US" sz="1493">
                  <a:solidFill>
                    <a:srgbClr val="000000"/>
                  </a:solidFill>
                  <a:latin typeface="HK Grotesk"/>
                  <a:ea typeface="HK Grotesk"/>
                  <a:cs typeface="HK Grotesk"/>
                  <a:sym typeface="HK Grotesk"/>
                </a:rPr>
                <a:t>Spread the filling.</a:t>
              </a:r>
            </a:p>
          </p:txBody>
        </p:sp>
      </p:grpSp>
      <p:grpSp>
        <p:nvGrpSpPr>
          <p:cNvPr name="Group 11" id="11"/>
          <p:cNvGrpSpPr/>
          <p:nvPr/>
        </p:nvGrpSpPr>
        <p:grpSpPr>
          <a:xfrm rot="0">
            <a:off x="1229704" y="4011281"/>
            <a:ext cx="2782411" cy="2534299"/>
            <a:chOff x="0" y="0"/>
            <a:chExt cx="3709882" cy="3379065"/>
          </a:xfrm>
        </p:grpSpPr>
        <p:sp>
          <p:nvSpPr>
            <p:cNvPr name="Freeform 12" id="12" descr="Rolling up the dough rectangle into a log."/>
            <p:cNvSpPr/>
            <p:nvPr/>
          </p:nvSpPr>
          <p:spPr>
            <a:xfrm flipH="false" flipV="false" rot="0">
              <a:off x="0" y="0"/>
              <a:ext cx="3709882" cy="3061349"/>
            </a:xfrm>
            <a:custGeom>
              <a:avLst/>
              <a:gdLst/>
              <a:ahLst/>
              <a:cxnLst/>
              <a:rect r="r" b="b" t="t" l="l"/>
              <a:pathLst>
                <a:path h="3061349" w="3709882">
                  <a:moveTo>
                    <a:pt x="0" y="0"/>
                  </a:moveTo>
                  <a:lnTo>
                    <a:pt x="3709882" y="0"/>
                  </a:lnTo>
                  <a:lnTo>
                    <a:pt x="3709882" y="3061349"/>
                  </a:lnTo>
                  <a:lnTo>
                    <a:pt x="0" y="3061349"/>
                  </a:lnTo>
                  <a:lnTo>
                    <a:pt x="0" y="0"/>
                  </a:lnTo>
                  <a:close/>
                </a:path>
              </a:pathLst>
            </a:custGeom>
            <a:blipFill>
              <a:blip r:embed="rId5"/>
              <a:stretch>
                <a:fillRect l="0" t="-26763" r="0" b="-35012"/>
              </a:stretch>
            </a:blipFill>
            <a:ln w="9525" cap="sq">
              <a:solidFill>
                <a:srgbClr val="000000"/>
              </a:solidFill>
              <a:prstDash val="solid"/>
              <a:miter/>
            </a:ln>
          </p:spPr>
        </p:sp>
        <p:sp>
          <p:nvSpPr>
            <p:cNvPr name="TextBox 13" id="13"/>
            <p:cNvSpPr txBox="true"/>
            <p:nvPr/>
          </p:nvSpPr>
          <p:spPr>
            <a:xfrm rot="0">
              <a:off x="488989" y="3058174"/>
              <a:ext cx="2884304" cy="320891"/>
            </a:xfrm>
            <a:prstGeom prst="rect">
              <a:avLst/>
            </a:prstGeom>
          </p:spPr>
          <p:txBody>
            <a:bodyPr anchor="t" rtlCol="false" tIns="0" lIns="0" bIns="0" rIns="0">
              <a:spAutoFit/>
            </a:bodyPr>
            <a:lstStyle/>
            <a:p>
              <a:pPr algn="ctr">
                <a:lnSpc>
                  <a:spcPts val="2091"/>
                </a:lnSpc>
                <a:spcBef>
                  <a:spcPct val="0"/>
                </a:spcBef>
              </a:pPr>
              <a:r>
                <a:rPr lang="en-US" sz="1493">
                  <a:solidFill>
                    <a:srgbClr val="000000"/>
                  </a:solidFill>
                  <a:latin typeface="HK Grotesk"/>
                  <a:ea typeface="HK Grotesk"/>
                  <a:cs typeface="HK Grotesk"/>
                  <a:sym typeface="HK Grotesk"/>
                </a:rPr>
                <a:t>Roll into a log.</a:t>
              </a: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5F5EF"/>
        </a:solidFill>
      </p:bgPr>
    </p:bg>
    <p:spTree>
      <p:nvGrpSpPr>
        <p:cNvPr id="1" name=""/>
        <p:cNvGrpSpPr/>
        <p:nvPr/>
      </p:nvGrpSpPr>
      <p:grpSpPr>
        <a:xfrm>
          <a:off x="0" y="0"/>
          <a:ext cx="0" cy="0"/>
          <a:chOff x="0" y="0"/>
          <a:chExt cx="0" cy="0"/>
        </a:xfrm>
      </p:grpSpPr>
      <p:sp>
        <p:nvSpPr>
          <p:cNvPr name="TextBox 2" id="2"/>
          <p:cNvSpPr txBox="true"/>
          <p:nvPr/>
        </p:nvSpPr>
        <p:spPr>
          <a:xfrm rot="0">
            <a:off x="5348446" y="732207"/>
            <a:ext cx="7264037" cy="4877435"/>
          </a:xfrm>
          <a:prstGeom prst="rect">
            <a:avLst/>
          </a:prstGeom>
        </p:spPr>
        <p:txBody>
          <a:bodyPr anchor="t" rtlCol="false" tIns="0" lIns="0" bIns="0" rIns="0">
            <a:spAutoFit/>
          </a:bodyPr>
          <a:lstStyle/>
          <a:p>
            <a:pPr algn="l">
              <a:lnSpc>
                <a:spcPts val="2799"/>
              </a:lnSpc>
            </a:pPr>
            <a:r>
              <a:rPr lang="en-US" sz="1999">
                <a:solidFill>
                  <a:srgbClr val="000000"/>
                </a:solidFill>
                <a:latin typeface="HK Grotesk"/>
                <a:ea typeface="HK Grotesk"/>
                <a:cs typeface="HK Grotesk"/>
                <a:sym typeface="HK Grotesk"/>
              </a:rPr>
              <a:t>6. Place the log with the long seam down. With a sharp knife, cut the dough in half lengthwise, from one end to the other.</a:t>
            </a:r>
            <a:r>
              <a:rPr lang="en-US" sz="1999">
                <a:solidFill>
                  <a:srgbClr val="000000"/>
                </a:solidFill>
                <a:latin typeface="HK Grotesk"/>
                <a:ea typeface="HK Grotesk"/>
                <a:cs typeface="HK Grotesk"/>
                <a:sym typeface="HK Grotesk"/>
              </a:rPr>
              <a:t> </a:t>
            </a:r>
          </a:p>
          <a:p>
            <a:pPr algn="l">
              <a:lnSpc>
                <a:spcPts val="2799"/>
              </a:lnSpc>
            </a:pPr>
          </a:p>
          <a:p>
            <a:pPr algn="l">
              <a:lnSpc>
                <a:spcPts val="2799"/>
              </a:lnSpc>
            </a:pPr>
            <a:r>
              <a:rPr lang="en-US" sz="1999">
                <a:solidFill>
                  <a:srgbClr val="000000"/>
                </a:solidFill>
                <a:latin typeface="HK Grotesk"/>
                <a:ea typeface="HK Grotesk"/>
                <a:cs typeface="HK Grotesk"/>
                <a:sym typeface="HK Grotesk"/>
              </a:rPr>
              <a:t>7. </a:t>
            </a:r>
            <a:r>
              <a:rPr lang="en-US" sz="1999">
                <a:solidFill>
                  <a:srgbClr val="000000"/>
                </a:solidFill>
                <a:latin typeface="HK Grotesk"/>
                <a:ea typeface="HK Grotesk"/>
                <a:cs typeface="HK Grotesk"/>
                <a:sym typeface="HK Grotesk"/>
              </a:rPr>
              <a:t>Place the 2 half-logs next to each other with the cut sides face up. It will seem a little messy, but will turn out fine!</a:t>
            </a:r>
          </a:p>
          <a:p>
            <a:pPr algn="l">
              <a:lnSpc>
                <a:spcPts val="2799"/>
              </a:lnSpc>
            </a:pPr>
          </a:p>
          <a:p>
            <a:pPr algn="l">
              <a:lnSpc>
                <a:spcPts val="2799"/>
              </a:lnSpc>
            </a:pPr>
            <a:r>
              <a:rPr lang="en-US" sz="1999">
                <a:solidFill>
                  <a:srgbClr val="000000"/>
                </a:solidFill>
                <a:latin typeface="HK Grotesk"/>
                <a:ea typeface="HK Grotesk"/>
                <a:cs typeface="HK Grotesk"/>
                <a:sym typeface="HK Grotesk"/>
              </a:rPr>
              <a:t>8. </a:t>
            </a:r>
            <a:r>
              <a:rPr lang="en-US" sz="1999">
                <a:solidFill>
                  <a:srgbClr val="000000"/>
                </a:solidFill>
                <a:latin typeface="HK Grotesk"/>
                <a:ea typeface="HK Grotesk"/>
                <a:cs typeface="HK Grotesk"/>
                <a:sym typeface="HK Grotesk"/>
              </a:rPr>
              <a:t>Keeping </a:t>
            </a:r>
            <a:r>
              <a:rPr lang="en-US" sz="1999">
                <a:solidFill>
                  <a:srgbClr val="000000"/>
                </a:solidFill>
                <a:latin typeface="HK Grotesk"/>
                <a:ea typeface="HK Grotesk"/>
                <a:cs typeface="HK Grotesk"/>
                <a:sym typeface="HK Grotesk"/>
              </a:rPr>
              <a:t>the cut sides face up, braid the 2 half-logs together. </a:t>
            </a:r>
          </a:p>
          <a:p>
            <a:pPr algn="l">
              <a:lnSpc>
                <a:spcPts val="2799"/>
              </a:lnSpc>
            </a:pPr>
          </a:p>
          <a:p>
            <a:pPr algn="l">
              <a:lnSpc>
                <a:spcPts val="2799"/>
              </a:lnSpc>
            </a:pPr>
            <a:r>
              <a:rPr lang="en-US" sz="1999">
                <a:solidFill>
                  <a:srgbClr val="000000"/>
                </a:solidFill>
                <a:latin typeface="HK Grotesk"/>
                <a:ea typeface="HK Grotesk"/>
                <a:cs typeface="HK Grotesk"/>
                <a:sym typeface="HK Grotesk"/>
              </a:rPr>
              <a:t>9. </a:t>
            </a:r>
            <a:r>
              <a:rPr lang="en-US" sz="1999">
                <a:solidFill>
                  <a:srgbClr val="000000"/>
                </a:solidFill>
                <a:latin typeface="HK Grotesk"/>
                <a:ea typeface="HK Grotesk"/>
                <a:cs typeface="HK Grotesk"/>
                <a:sym typeface="HK Grotesk"/>
              </a:rPr>
              <a:t>Place the shaped loaf into the prepared loaf pan and cover with plastic wrap.</a:t>
            </a:r>
          </a:p>
          <a:p>
            <a:pPr algn="l">
              <a:lnSpc>
                <a:spcPts val="2799"/>
              </a:lnSpc>
            </a:pPr>
          </a:p>
          <a:p>
            <a:pPr algn="l">
              <a:lnSpc>
                <a:spcPts val="2799"/>
              </a:lnSpc>
            </a:pPr>
            <a:r>
              <a:rPr lang="en-US" sz="1999">
                <a:solidFill>
                  <a:srgbClr val="000000"/>
                </a:solidFill>
                <a:latin typeface="HK Grotesk"/>
                <a:ea typeface="HK Grotesk"/>
                <a:cs typeface="HK Grotesk"/>
                <a:sym typeface="HK Grotesk"/>
              </a:rPr>
              <a:t>10. Let the shaped loaf rise for </a:t>
            </a:r>
            <a:r>
              <a:rPr lang="en-US" sz="1999" u="sng">
                <a:solidFill>
                  <a:srgbClr val="000000"/>
                </a:solidFill>
                <a:latin typeface="HK Grotesk"/>
                <a:ea typeface="HK Grotesk"/>
                <a:cs typeface="HK Grotesk"/>
                <a:sym typeface="HK Grotesk"/>
                <a:hlinkClick r:id="rId2" action="ppaction://hlinksldjump"/>
              </a:rPr>
              <a:t>45-60 minutes</a:t>
            </a:r>
            <a:r>
              <a:rPr lang="en-US" sz="1999">
                <a:solidFill>
                  <a:srgbClr val="000000"/>
                </a:solidFill>
                <a:latin typeface="HK Grotesk"/>
                <a:ea typeface="HK Grotesk"/>
                <a:cs typeface="HK Grotesk"/>
                <a:sym typeface="HK Grotesk"/>
              </a:rPr>
              <a:t>, until the loaf rises above the rim of the pan.</a:t>
            </a:r>
          </a:p>
          <a:p>
            <a:pPr algn="l">
              <a:lnSpc>
                <a:spcPts val="2380"/>
              </a:lnSpc>
            </a:pPr>
          </a:p>
        </p:txBody>
      </p:sp>
      <p:grpSp>
        <p:nvGrpSpPr>
          <p:cNvPr name="Group 3" id="3"/>
          <p:cNvGrpSpPr/>
          <p:nvPr/>
        </p:nvGrpSpPr>
        <p:grpSpPr>
          <a:xfrm rot="0">
            <a:off x="411702" y="755185"/>
            <a:ext cx="2163228" cy="2868177"/>
            <a:chOff x="0" y="0"/>
            <a:chExt cx="2884304" cy="3824236"/>
          </a:xfrm>
        </p:grpSpPr>
        <p:sp>
          <p:nvSpPr>
            <p:cNvPr name="Freeform 4" id="4" descr="Slicing the dough log in half."/>
            <p:cNvSpPr/>
            <p:nvPr/>
          </p:nvSpPr>
          <p:spPr>
            <a:xfrm flipH="false" flipV="false" rot="0">
              <a:off x="0" y="0"/>
              <a:ext cx="2884304" cy="3544620"/>
            </a:xfrm>
            <a:custGeom>
              <a:avLst/>
              <a:gdLst/>
              <a:ahLst/>
              <a:cxnLst/>
              <a:rect r="r" b="b" t="t" l="l"/>
              <a:pathLst>
                <a:path h="3544620" w="2884304">
                  <a:moveTo>
                    <a:pt x="0" y="0"/>
                  </a:moveTo>
                  <a:lnTo>
                    <a:pt x="2884304" y="0"/>
                  </a:lnTo>
                  <a:lnTo>
                    <a:pt x="2884304" y="3544620"/>
                  </a:lnTo>
                  <a:lnTo>
                    <a:pt x="0" y="3544620"/>
                  </a:lnTo>
                  <a:lnTo>
                    <a:pt x="0" y="0"/>
                  </a:lnTo>
                  <a:close/>
                </a:path>
              </a:pathLst>
            </a:custGeom>
            <a:blipFill>
              <a:blip r:embed="rId3"/>
              <a:stretch>
                <a:fillRect l="0" t="-8560" r="0" b="-65"/>
              </a:stretch>
            </a:blipFill>
            <a:ln w="9525" cap="sq">
              <a:solidFill>
                <a:srgbClr val="000000"/>
              </a:solidFill>
              <a:prstDash val="solid"/>
              <a:miter/>
            </a:ln>
          </p:spPr>
        </p:sp>
        <p:sp>
          <p:nvSpPr>
            <p:cNvPr name="TextBox 5" id="5"/>
            <p:cNvSpPr txBox="true"/>
            <p:nvPr/>
          </p:nvSpPr>
          <p:spPr>
            <a:xfrm rot="0">
              <a:off x="0" y="3503345"/>
              <a:ext cx="2884304" cy="320891"/>
            </a:xfrm>
            <a:prstGeom prst="rect">
              <a:avLst/>
            </a:prstGeom>
          </p:spPr>
          <p:txBody>
            <a:bodyPr anchor="t" rtlCol="false" tIns="0" lIns="0" bIns="0" rIns="0">
              <a:spAutoFit/>
            </a:bodyPr>
            <a:lstStyle/>
            <a:p>
              <a:pPr algn="ctr">
                <a:lnSpc>
                  <a:spcPts val="2091"/>
                </a:lnSpc>
                <a:spcBef>
                  <a:spcPct val="0"/>
                </a:spcBef>
              </a:pPr>
              <a:r>
                <a:rPr lang="en-US" sz="1493">
                  <a:solidFill>
                    <a:srgbClr val="000000"/>
                  </a:solidFill>
                  <a:latin typeface="HK Grotesk"/>
                  <a:ea typeface="HK Grotesk"/>
                  <a:cs typeface="HK Grotesk"/>
                  <a:sym typeface="HK Grotesk"/>
                </a:rPr>
                <a:t>Slice the log in half.</a:t>
              </a:r>
            </a:p>
          </p:txBody>
        </p:sp>
      </p:grpSp>
      <p:grpSp>
        <p:nvGrpSpPr>
          <p:cNvPr name="Group 6" id="6"/>
          <p:cNvGrpSpPr/>
          <p:nvPr/>
        </p:nvGrpSpPr>
        <p:grpSpPr>
          <a:xfrm rot="0">
            <a:off x="2823003" y="755185"/>
            <a:ext cx="2163228" cy="2868177"/>
            <a:chOff x="0" y="0"/>
            <a:chExt cx="2884304" cy="3824236"/>
          </a:xfrm>
        </p:grpSpPr>
        <p:sp>
          <p:nvSpPr>
            <p:cNvPr name="Freeform 7" id="7" descr="Braiding the babka dough."/>
            <p:cNvSpPr/>
            <p:nvPr/>
          </p:nvSpPr>
          <p:spPr>
            <a:xfrm flipH="false" flipV="false" rot="0">
              <a:off x="0" y="0"/>
              <a:ext cx="2884304" cy="3544620"/>
            </a:xfrm>
            <a:custGeom>
              <a:avLst/>
              <a:gdLst/>
              <a:ahLst/>
              <a:cxnLst/>
              <a:rect r="r" b="b" t="t" l="l"/>
              <a:pathLst>
                <a:path h="3544620" w="2884304">
                  <a:moveTo>
                    <a:pt x="0" y="0"/>
                  </a:moveTo>
                  <a:lnTo>
                    <a:pt x="2884304" y="0"/>
                  </a:lnTo>
                  <a:lnTo>
                    <a:pt x="2884304" y="3544620"/>
                  </a:lnTo>
                  <a:lnTo>
                    <a:pt x="0" y="3544620"/>
                  </a:lnTo>
                  <a:lnTo>
                    <a:pt x="0" y="0"/>
                  </a:lnTo>
                  <a:close/>
                </a:path>
              </a:pathLst>
            </a:custGeom>
            <a:blipFill>
              <a:blip r:embed="rId4"/>
              <a:stretch>
                <a:fillRect l="0" t="-8560" r="0" b="-65"/>
              </a:stretch>
            </a:blipFill>
            <a:ln w="9525" cap="sq">
              <a:solidFill>
                <a:srgbClr val="000000"/>
              </a:solidFill>
              <a:prstDash val="solid"/>
              <a:miter/>
            </a:ln>
          </p:spPr>
        </p:sp>
        <p:sp>
          <p:nvSpPr>
            <p:cNvPr name="TextBox 8" id="8"/>
            <p:cNvSpPr txBox="true"/>
            <p:nvPr/>
          </p:nvSpPr>
          <p:spPr>
            <a:xfrm rot="0">
              <a:off x="0" y="3503345"/>
              <a:ext cx="2884304" cy="320891"/>
            </a:xfrm>
            <a:prstGeom prst="rect">
              <a:avLst/>
            </a:prstGeom>
          </p:spPr>
          <p:txBody>
            <a:bodyPr anchor="t" rtlCol="false" tIns="0" lIns="0" bIns="0" rIns="0">
              <a:spAutoFit/>
            </a:bodyPr>
            <a:lstStyle/>
            <a:p>
              <a:pPr algn="ctr">
                <a:lnSpc>
                  <a:spcPts val="2091"/>
                </a:lnSpc>
                <a:spcBef>
                  <a:spcPct val="0"/>
                </a:spcBef>
              </a:pPr>
              <a:r>
                <a:rPr lang="en-US" sz="1493">
                  <a:solidFill>
                    <a:srgbClr val="000000"/>
                  </a:solidFill>
                  <a:latin typeface="HK Grotesk"/>
                  <a:ea typeface="HK Grotesk"/>
                  <a:cs typeface="HK Grotesk"/>
                  <a:sym typeface="HK Grotesk"/>
                </a:rPr>
                <a:t>Braid the half-logs.</a:t>
              </a:r>
            </a:p>
          </p:txBody>
        </p:sp>
      </p:grpSp>
      <p:grpSp>
        <p:nvGrpSpPr>
          <p:cNvPr name="Group 9" id="9"/>
          <p:cNvGrpSpPr/>
          <p:nvPr/>
        </p:nvGrpSpPr>
        <p:grpSpPr>
          <a:xfrm rot="0">
            <a:off x="1626666" y="3757501"/>
            <a:ext cx="2239851" cy="2906112"/>
            <a:chOff x="0" y="0"/>
            <a:chExt cx="2986468" cy="3874816"/>
          </a:xfrm>
        </p:grpSpPr>
        <p:sp>
          <p:nvSpPr>
            <p:cNvPr name="Freeform 10" id="10" descr="Shaped babka in loaf pan."/>
            <p:cNvSpPr/>
            <p:nvPr/>
          </p:nvSpPr>
          <p:spPr>
            <a:xfrm flipH="false" flipV="false" rot="0">
              <a:off x="38100" y="0"/>
              <a:ext cx="2884304" cy="3569800"/>
            </a:xfrm>
            <a:custGeom>
              <a:avLst/>
              <a:gdLst/>
              <a:ahLst/>
              <a:cxnLst/>
              <a:rect r="r" b="b" t="t" l="l"/>
              <a:pathLst>
                <a:path h="3569800" w="2884304">
                  <a:moveTo>
                    <a:pt x="0" y="0"/>
                  </a:moveTo>
                  <a:lnTo>
                    <a:pt x="2884304" y="0"/>
                  </a:lnTo>
                  <a:lnTo>
                    <a:pt x="2884304" y="3569800"/>
                  </a:lnTo>
                  <a:lnTo>
                    <a:pt x="0" y="3569800"/>
                  </a:lnTo>
                  <a:lnTo>
                    <a:pt x="0" y="0"/>
                  </a:lnTo>
                  <a:close/>
                </a:path>
              </a:pathLst>
            </a:custGeom>
            <a:blipFill>
              <a:blip r:embed="rId5"/>
              <a:stretch>
                <a:fillRect l="0" t="-65" r="0" b="-7795"/>
              </a:stretch>
            </a:blipFill>
            <a:ln w="9525" cap="sq">
              <a:solidFill>
                <a:srgbClr val="000000"/>
              </a:solidFill>
              <a:prstDash val="solid"/>
              <a:miter/>
            </a:ln>
          </p:spPr>
        </p:sp>
        <p:sp>
          <p:nvSpPr>
            <p:cNvPr name="TextBox 11" id="11"/>
            <p:cNvSpPr txBox="true"/>
            <p:nvPr/>
          </p:nvSpPr>
          <p:spPr>
            <a:xfrm rot="0">
              <a:off x="0" y="3553925"/>
              <a:ext cx="2986468" cy="320891"/>
            </a:xfrm>
            <a:prstGeom prst="rect">
              <a:avLst/>
            </a:prstGeom>
          </p:spPr>
          <p:txBody>
            <a:bodyPr anchor="t" rtlCol="false" tIns="0" lIns="0" bIns="0" rIns="0">
              <a:spAutoFit/>
            </a:bodyPr>
            <a:lstStyle/>
            <a:p>
              <a:pPr algn="ctr">
                <a:lnSpc>
                  <a:spcPts val="2091"/>
                </a:lnSpc>
                <a:spcBef>
                  <a:spcPct val="0"/>
                </a:spcBef>
              </a:pPr>
              <a:r>
                <a:rPr lang="en-US" sz="1493">
                  <a:solidFill>
                    <a:srgbClr val="000000"/>
                  </a:solidFill>
                  <a:latin typeface="HK Grotesk"/>
                  <a:ea typeface="HK Grotesk"/>
                  <a:cs typeface="HK Grotesk"/>
                  <a:sym typeface="HK Grotesk"/>
                </a:rPr>
                <a:t>Place shaped loaf into pan.</a:t>
              </a: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5F5EF"/>
        </a:solidFill>
      </p:bgPr>
    </p:bg>
    <p:spTree>
      <p:nvGrpSpPr>
        <p:cNvPr id="1" name=""/>
        <p:cNvGrpSpPr/>
        <p:nvPr/>
      </p:nvGrpSpPr>
      <p:grpSpPr>
        <a:xfrm>
          <a:off x="0" y="0"/>
          <a:ext cx="0" cy="0"/>
          <a:chOff x="0" y="0"/>
          <a:chExt cx="0" cy="0"/>
        </a:xfrm>
      </p:grpSpPr>
      <p:grpSp>
        <p:nvGrpSpPr>
          <p:cNvPr name="Group 2" id="2"/>
          <p:cNvGrpSpPr/>
          <p:nvPr/>
        </p:nvGrpSpPr>
        <p:grpSpPr>
          <a:xfrm rot="0">
            <a:off x="4452860" y="72839"/>
            <a:ext cx="7826770" cy="7169522"/>
            <a:chOff x="0" y="0"/>
            <a:chExt cx="10435693" cy="9559363"/>
          </a:xfrm>
        </p:grpSpPr>
        <p:sp>
          <p:nvSpPr>
            <p:cNvPr name="TextBox 3" id="3"/>
            <p:cNvSpPr txBox="true"/>
            <p:nvPr/>
          </p:nvSpPr>
          <p:spPr>
            <a:xfrm rot="0">
              <a:off x="0" y="-66675"/>
              <a:ext cx="10435693" cy="773642"/>
            </a:xfrm>
            <a:prstGeom prst="rect">
              <a:avLst/>
            </a:prstGeom>
          </p:spPr>
          <p:txBody>
            <a:bodyPr anchor="t" rtlCol="false" tIns="0" lIns="0" bIns="0" rIns="0">
              <a:spAutoFit/>
            </a:bodyPr>
            <a:lstStyle/>
            <a:p>
              <a:pPr algn="l">
                <a:lnSpc>
                  <a:spcPts val="4900"/>
                </a:lnSpc>
              </a:pPr>
              <a:r>
                <a:rPr lang="en-US" sz="3500">
                  <a:solidFill>
                    <a:srgbClr val="000000"/>
                  </a:solidFill>
                  <a:latin typeface="Hammersmith One"/>
                  <a:ea typeface="Hammersmith One"/>
                  <a:cs typeface="Hammersmith One"/>
                  <a:sym typeface="Hammersmith One"/>
                </a:rPr>
                <a:t>BAKE THE BABKA</a:t>
              </a:r>
            </a:p>
          </p:txBody>
        </p:sp>
        <p:sp>
          <p:nvSpPr>
            <p:cNvPr name="TextBox 4" id="4"/>
            <p:cNvSpPr txBox="true"/>
            <p:nvPr/>
          </p:nvSpPr>
          <p:spPr>
            <a:xfrm rot="0">
              <a:off x="0" y="979877"/>
              <a:ext cx="10435693" cy="8579485"/>
            </a:xfrm>
            <a:prstGeom prst="rect">
              <a:avLst/>
            </a:prstGeom>
          </p:spPr>
          <p:txBody>
            <a:bodyPr anchor="t" rtlCol="false" tIns="0" lIns="0" bIns="0" rIns="0">
              <a:spAutoFit/>
            </a:bodyPr>
            <a:lstStyle/>
            <a:p>
              <a:pPr algn="l">
                <a:lnSpc>
                  <a:spcPts val="3079"/>
                </a:lnSpc>
              </a:pPr>
              <a:r>
                <a:rPr lang="en-US" sz="2199">
                  <a:solidFill>
                    <a:srgbClr val="000000"/>
                  </a:solidFill>
                  <a:latin typeface="HK Grotesk"/>
                  <a:ea typeface="HK Grotesk"/>
                  <a:cs typeface="HK Grotesk"/>
                  <a:sym typeface="HK Grotesk"/>
                </a:rPr>
                <a:t>1. Heat oven to 350 degrees. </a:t>
              </a:r>
            </a:p>
            <a:p>
              <a:pPr algn="l">
                <a:lnSpc>
                  <a:spcPts val="3079"/>
                </a:lnSpc>
              </a:pPr>
            </a:p>
            <a:p>
              <a:pPr algn="l">
                <a:lnSpc>
                  <a:spcPts val="3079"/>
                </a:lnSpc>
              </a:pPr>
              <a:r>
                <a:rPr lang="en-US" sz="2199">
                  <a:solidFill>
                    <a:srgbClr val="000000"/>
                  </a:solidFill>
                  <a:latin typeface="HK Grotesk"/>
                  <a:ea typeface="HK Grotesk"/>
                  <a:cs typeface="HK Grotesk"/>
                  <a:sym typeface="HK Grotesk"/>
                </a:rPr>
                <a:t>2. </a:t>
              </a:r>
              <a:r>
                <a:rPr lang="en-US" sz="2199">
                  <a:solidFill>
                    <a:srgbClr val="000000"/>
                  </a:solidFill>
                  <a:latin typeface="HK Grotesk"/>
                  <a:ea typeface="HK Grotesk"/>
                  <a:cs typeface="HK Grotesk"/>
                  <a:sym typeface="HK Grotesk"/>
                </a:rPr>
                <a:t>Remove the loaf from oven and discard plastic. Brush the loaf with egg glaze (use a pastry brush if you have one). </a:t>
              </a:r>
            </a:p>
            <a:p>
              <a:pPr algn="l">
                <a:lnSpc>
                  <a:spcPts val="3079"/>
                </a:lnSpc>
              </a:pPr>
            </a:p>
            <a:p>
              <a:pPr algn="l">
                <a:lnSpc>
                  <a:spcPts val="3079"/>
                </a:lnSpc>
              </a:pPr>
              <a:r>
                <a:rPr lang="en-US" sz="2199">
                  <a:solidFill>
                    <a:srgbClr val="000000"/>
                  </a:solidFill>
                  <a:latin typeface="HK Grotesk"/>
                  <a:ea typeface="HK Grotesk"/>
                  <a:cs typeface="HK Grotesk"/>
                  <a:sym typeface="HK Grotesk"/>
                </a:rPr>
                <a:t>3. </a:t>
              </a:r>
              <a:r>
                <a:rPr lang="en-US" sz="2199">
                  <a:solidFill>
                    <a:srgbClr val="000000"/>
                  </a:solidFill>
                  <a:latin typeface="HK Grotesk"/>
                  <a:ea typeface="HK Grotesk"/>
                  <a:cs typeface="HK Grotesk"/>
                  <a:sym typeface="HK Grotesk"/>
                </a:rPr>
                <a:t>Place the loaf in the oven and bake until deep golden brown, about 40 minutes.  If you have a food thermometer, insert it into the loaf...the center should read 185 degrees. Check the loaf halfway through baking and cover with foil if it’s browning too quickly!!  </a:t>
              </a:r>
            </a:p>
            <a:p>
              <a:pPr algn="l">
                <a:lnSpc>
                  <a:spcPts val="3079"/>
                </a:lnSpc>
              </a:pPr>
            </a:p>
            <a:p>
              <a:pPr algn="l">
                <a:lnSpc>
                  <a:spcPts val="3079"/>
                </a:lnSpc>
              </a:pPr>
              <a:r>
                <a:rPr lang="en-US" sz="2199">
                  <a:solidFill>
                    <a:srgbClr val="000000"/>
                  </a:solidFill>
                  <a:latin typeface="HK Grotesk"/>
                  <a:ea typeface="HK Grotesk"/>
                  <a:cs typeface="HK Grotesk"/>
                  <a:sym typeface="HK Grotesk"/>
                </a:rPr>
                <a:t>4. </a:t>
              </a:r>
              <a:r>
                <a:rPr lang="en-US" sz="2199">
                  <a:solidFill>
                    <a:srgbClr val="000000"/>
                  </a:solidFill>
                  <a:latin typeface="HK Grotesk"/>
                  <a:ea typeface="HK Grotesk"/>
                  <a:cs typeface="HK Grotesk"/>
                  <a:sym typeface="HK Grotesk"/>
                </a:rPr>
                <a:t>Let the loaf cool in pan on wire rack for 20 minutes. Remove the loaf from the pan and cool completely, about 2 hours. </a:t>
              </a:r>
            </a:p>
            <a:p>
              <a:pPr algn="l">
                <a:lnSpc>
                  <a:spcPts val="3079"/>
                </a:lnSpc>
              </a:pPr>
            </a:p>
            <a:p>
              <a:pPr algn="l">
                <a:lnSpc>
                  <a:spcPts val="3079"/>
                </a:lnSpc>
              </a:pPr>
              <a:r>
                <a:rPr lang="en-US" sz="2199">
                  <a:solidFill>
                    <a:srgbClr val="000000"/>
                  </a:solidFill>
                  <a:latin typeface="HK Grotesk"/>
                  <a:ea typeface="HK Grotesk"/>
                  <a:cs typeface="HK Grotesk"/>
                  <a:sym typeface="HK Grotesk"/>
                </a:rPr>
                <a:t>5. </a:t>
              </a:r>
              <a:r>
                <a:rPr lang="en-US" sz="2199">
                  <a:solidFill>
                    <a:srgbClr val="000000"/>
                  </a:solidFill>
                  <a:latin typeface="HK Grotesk"/>
                  <a:ea typeface="HK Grotesk"/>
                  <a:cs typeface="HK Grotesk"/>
                  <a:sym typeface="HK Grotesk"/>
                </a:rPr>
                <a:t>Serve.</a:t>
              </a:r>
            </a:p>
            <a:p>
              <a:pPr algn="l">
                <a:lnSpc>
                  <a:spcPts val="2380"/>
                </a:lnSpc>
              </a:pPr>
            </a:p>
            <a:p>
              <a:pPr algn="l">
                <a:lnSpc>
                  <a:spcPts val="2380"/>
                </a:lnSpc>
              </a:pPr>
            </a:p>
          </p:txBody>
        </p:sp>
      </p:grpSp>
      <p:grpSp>
        <p:nvGrpSpPr>
          <p:cNvPr name="Group 5" id="5"/>
          <p:cNvGrpSpPr/>
          <p:nvPr/>
        </p:nvGrpSpPr>
        <p:grpSpPr>
          <a:xfrm rot="0">
            <a:off x="797733" y="867132"/>
            <a:ext cx="3224595" cy="2594707"/>
            <a:chOff x="0" y="0"/>
            <a:chExt cx="4299460" cy="3459610"/>
          </a:xfrm>
        </p:grpSpPr>
        <p:sp>
          <p:nvSpPr>
            <p:cNvPr name="Freeform 6" id="6" descr="Brushing the egg glaze on the loaf."/>
            <p:cNvSpPr/>
            <p:nvPr/>
          </p:nvSpPr>
          <p:spPr>
            <a:xfrm flipH="false" flipV="false" rot="0">
              <a:off x="0" y="0"/>
              <a:ext cx="4299460" cy="3154594"/>
            </a:xfrm>
            <a:custGeom>
              <a:avLst/>
              <a:gdLst/>
              <a:ahLst/>
              <a:cxnLst/>
              <a:rect r="r" b="b" t="t" l="l"/>
              <a:pathLst>
                <a:path h="3154594" w="4299460">
                  <a:moveTo>
                    <a:pt x="0" y="0"/>
                  </a:moveTo>
                  <a:lnTo>
                    <a:pt x="4299460" y="0"/>
                  </a:lnTo>
                  <a:lnTo>
                    <a:pt x="4299460" y="3154594"/>
                  </a:lnTo>
                  <a:lnTo>
                    <a:pt x="0" y="3154594"/>
                  </a:lnTo>
                  <a:lnTo>
                    <a:pt x="0" y="0"/>
                  </a:lnTo>
                  <a:close/>
                </a:path>
              </a:pathLst>
            </a:custGeom>
            <a:blipFill>
              <a:blip r:embed="rId2"/>
              <a:stretch>
                <a:fillRect l="0" t="-5503" r="0" b="-5503"/>
              </a:stretch>
            </a:blipFill>
            <a:ln w="9525" cap="sq">
              <a:solidFill>
                <a:srgbClr val="000000"/>
              </a:solidFill>
              <a:prstDash val="solid"/>
              <a:miter/>
            </a:ln>
          </p:spPr>
        </p:sp>
        <p:sp>
          <p:nvSpPr>
            <p:cNvPr name="TextBox 7" id="7"/>
            <p:cNvSpPr txBox="true"/>
            <p:nvPr/>
          </p:nvSpPr>
          <p:spPr>
            <a:xfrm rot="0">
              <a:off x="835888" y="3138719"/>
              <a:ext cx="2884304" cy="320891"/>
            </a:xfrm>
            <a:prstGeom prst="rect">
              <a:avLst/>
            </a:prstGeom>
          </p:spPr>
          <p:txBody>
            <a:bodyPr anchor="t" rtlCol="false" tIns="0" lIns="0" bIns="0" rIns="0">
              <a:spAutoFit/>
            </a:bodyPr>
            <a:lstStyle/>
            <a:p>
              <a:pPr algn="ctr">
                <a:lnSpc>
                  <a:spcPts val="2091"/>
                </a:lnSpc>
                <a:spcBef>
                  <a:spcPct val="0"/>
                </a:spcBef>
              </a:pPr>
              <a:r>
                <a:rPr lang="en-US" sz="1493">
                  <a:solidFill>
                    <a:srgbClr val="000000"/>
                  </a:solidFill>
                  <a:latin typeface="HK Grotesk"/>
                  <a:ea typeface="HK Grotesk"/>
                  <a:cs typeface="HK Grotesk"/>
                  <a:sym typeface="HK Grotesk"/>
                </a:rPr>
                <a:t>Brush with the egg glaze.</a:t>
              </a:r>
            </a:p>
          </p:txBody>
        </p:sp>
      </p:grpSp>
      <p:grpSp>
        <p:nvGrpSpPr>
          <p:cNvPr name="Group 8" id="8"/>
          <p:cNvGrpSpPr/>
          <p:nvPr/>
        </p:nvGrpSpPr>
        <p:grpSpPr>
          <a:xfrm rot="0">
            <a:off x="1134767" y="3581400"/>
            <a:ext cx="2703436" cy="3149998"/>
            <a:chOff x="0" y="0"/>
            <a:chExt cx="3604582" cy="4199998"/>
          </a:xfrm>
        </p:grpSpPr>
        <p:sp>
          <p:nvSpPr>
            <p:cNvPr name="Freeform 9" id="9" descr="Baked babka loaf."/>
            <p:cNvSpPr/>
            <p:nvPr/>
          </p:nvSpPr>
          <p:spPr>
            <a:xfrm flipH="false" flipV="false" rot="0">
              <a:off x="219469" y="0"/>
              <a:ext cx="3114844" cy="3794624"/>
            </a:xfrm>
            <a:custGeom>
              <a:avLst/>
              <a:gdLst/>
              <a:ahLst/>
              <a:cxnLst/>
              <a:rect r="r" b="b" t="t" l="l"/>
              <a:pathLst>
                <a:path h="3794624" w="3114844">
                  <a:moveTo>
                    <a:pt x="0" y="0"/>
                  </a:moveTo>
                  <a:lnTo>
                    <a:pt x="3114844" y="0"/>
                  </a:lnTo>
                  <a:lnTo>
                    <a:pt x="3114844" y="3794624"/>
                  </a:lnTo>
                  <a:lnTo>
                    <a:pt x="0" y="3794624"/>
                  </a:lnTo>
                  <a:lnTo>
                    <a:pt x="0" y="0"/>
                  </a:lnTo>
                  <a:close/>
                </a:path>
              </a:pathLst>
            </a:custGeom>
            <a:blipFill>
              <a:blip r:embed="rId3"/>
              <a:stretch>
                <a:fillRect l="0" t="-23053" r="0" b="-23053"/>
              </a:stretch>
            </a:blipFill>
            <a:ln w="9525" cap="sq">
              <a:solidFill>
                <a:srgbClr val="000000"/>
              </a:solidFill>
              <a:prstDash val="solid"/>
              <a:miter/>
            </a:ln>
          </p:spPr>
        </p:sp>
        <p:sp>
          <p:nvSpPr>
            <p:cNvPr name="TextBox 10" id="10"/>
            <p:cNvSpPr txBox="true"/>
            <p:nvPr/>
          </p:nvSpPr>
          <p:spPr>
            <a:xfrm rot="0">
              <a:off x="0" y="3879107"/>
              <a:ext cx="3604582" cy="320891"/>
            </a:xfrm>
            <a:prstGeom prst="rect">
              <a:avLst/>
            </a:prstGeom>
          </p:spPr>
          <p:txBody>
            <a:bodyPr anchor="t" rtlCol="false" tIns="0" lIns="0" bIns="0" rIns="0">
              <a:spAutoFit/>
            </a:bodyPr>
            <a:lstStyle/>
            <a:p>
              <a:pPr algn="ctr">
                <a:lnSpc>
                  <a:spcPts val="2091"/>
                </a:lnSpc>
                <a:spcBef>
                  <a:spcPct val="0"/>
                </a:spcBef>
              </a:pPr>
              <a:r>
                <a:rPr lang="en-US" sz="1493">
                  <a:solidFill>
                    <a:srgbClr val="000000"/>
                  </a:solidFill>
                  <a:latin typeface="HK Grotesk"/>
                  <a:ea typeface="HK Grotesk"/>
                  <a:cs typeface="HK Grotesk"/>
                  <a:sym typeface="HK Grotesk"/>
                </a:rPr>
                <a:t>Bake until deep golden brown.</a:t>
              </a:r>
            </a:p>
          </p:txBody>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5F5EF"/>
        </a:solidFill>
      </p:bgPr>
    </p:bg>
    <p:spTree>
      <p:nvGrpSpPr>
        <p:cNvPr id="1" name=""/>
        <p:cNvGrpSpPr/>
        <p:nvPr/>
      </p:nvGrpSpPr>
      <p:grpSpPr>
        <a:xfrm>
          <a:off x="0" y="0"/>
          <a:ext cx="0" cy="0"/>
          <a:chOff x="0" y="0"/>
          <a:chExt cx="0" cy="0"/>
        </a:xfrm>
      </p:grpSpPr>
      <p:sp>
        <p:nvSpPr>
          <p:cNvPr name="Freeform 2" id="2" descr="Babka wrapped in plastic wrap."/>
          <p:cNvSpPr/>
          <p:nvPr/>
        </p:nvSpPr>
        <p:spPr>
          <a:xfrm flipH="false" flipV="false" rot="0">
            <a:off x="928155" y="579120"/>
            <a:ext cx="3544690" cy="2553938"/>
          </a:xfrm>
          <a:custGeom>
            <a:avLst/>
            <a:gdLst/>
            <a:ahLst/>
            <a:cxnLst/>
            <a:rect r="r" b="b" t="t" l="l"/>
            <a:pathLst>
              <a:path h="2553938" w="3544690">
                <a:moveTo>
                  <a:pt x="0" y="0"/>
                </a:moveTo>
                <a:lnTo>
                  <a:pt x="3544691" y="0"/>
                </a:lnTo>
                <a:lnTo>
                  <a:pt x="3544691" y="2553938"/>
                </a:lnTo>
                <a:lnTo>
                  <a:pt x="0" y="2553938"/>
                </a:lnTo>
                <a:lnTo>
                  <a:pt x="0" y="0"/>
                </a:lnTo>
                <a:close/>
              </a:path>
            </a:pathLst>
          </a:custGeom>
          <a:blipFill>
            <a:blip r:embed="rId2"/>
            <a:stretch>
              <a:fillRect l="0" t="-91" r="0" b="-91"/>
            </a:stretch>
          </a:blipFill>
          <a:ln w="9525" cap="sq">
            <a:solidFill>
              <a:srgbClr val="000000"/>
            </a:solidFill>
            <a:prstDash val="solid"/>
            <a:miter/>
          </a:ln>
        </p:spPr>
      </p:sp>
      <p:grpSp>
        <p:nvGrpSpPr>
          <p:cNvPr name="Group 3" id="3"/>
          <p:cNvGrpSpPr/>
          <p:nvPr/>
        </p:nvGrpSpPr>
        <p:grpSpPr>
          <a:xfrm rot="0">
            <a:off x="5140511" y="618607"/>
            <a:ext cx="6920044" cy="2276847"/>
            <a:chOff x="0" y="0"/>
            <a:chExt cx="9226725" cy="3035796"/>
          </a:xfrm>
        </p:grpSpPr>
        <p:sp>
          <p:nvSpPr>
            <p:cNvPr name="TextBox 4" id="4"/>
            <p:cNvSpPr txBox="true"/>
            <p:nvPr/>
          </p:nvSpPr>
          <p:spPr>
            <a:xfrm rot="0">
              <a:off x="0" y="-66675"/>
              <a:ext cx="9226725" cy="773642"/>
            </a:xfrm>
            <a:prstGeom prst="rect">
              <a:avLst/>
            </a:prstGeom>
          </p:spPr>
          <p:txBody>
            <a:bodyPr anchor="t" rtlCol="false" tIns="0" lIns="0" bIns="0" rIns="0">
              <a:spAutoFit/>
            </a:bodyPr>
            <a:lstStyle/>
            <a:p>
              <a:pPr algn="l">
                <a:lnSpc>
                  <a:spcPts val="4900"/>
                </a:lnSpc>
              </a:pPr>
              <a:r>
                <a:rPr lang="en-US" sz="3500">
                  <a:solidFill>
                    <a:srgbClr val="000000"/>
                  </a:solidFill>
                  <a:latin typeface="Hammersmith One"/>
                  <a:ea typeface="Hammersmith One"/>
                  <a:cs typeface="Hammersmith One"/>
                  <a:sym typeface="Hammersmith One"/>
                </a:rPr>
                <a:t>STORAGE INFORMATION</a:t>
              </a:r>
            </a:p>
          </p:txBody>
        </p:sp>
        <p:sp>
          <p:nvSpPr>
            <p:cNvPr name="TextBox 5" id="5"/>
            <p:cNvSpPr txBox="true"/>
            <p:nvPr/>
          </p:nvSpPr>
          <p:spPr>
            <a:xfrm rot="0">
              <a:off x="0" y="979877"/>
              <a:ext cx="9226725" cy="2055919"/>
            </a:xfrm>
            <a:prstGeom prst="rect">
              <a:avLst/>
            </a:prstGeom>
          </p:spPr>
          <p:txBody>
            <a:bodyPr anchor="t" rtlCol="false" tIns="0" lIns="0" bIns="0" rIns="0">
              <a:spAutoFit/>
            </a:bodyPr>
            <a:lstStyle/>
            <a:p>
              <a:pPr algn="l">
                <a:lnSpc>
                  <a:spcPts val="3079"/>
                </a:lnSpc>
              </a:pPr>
              <a:r>
                <a:rPr lang="en-US" sz="2199" b="true">
                  <a:solidFill>
                    <a:srgbClr val="000000"/>
                  </a:solidFill>
                  <a:latin typeface="HK Grotesk Medium"/>
                  <a:ea typeface="HK Grotesk Medium"/>
                  <a:cs typeface="HK Grotesk Medium"/>
                  <a:sym typeface="HK Grotesk Medium"/>
                </a:rPr>
                <a:t>L</a:t>
              </a:r>
              <a:r>
                <a:rPr lang="en-US" sz="2199">
                  <a:solidFill>
                    <a:srgbClr val="000000"/>
                  </a:solidFill>
                  <a:latin typeface="HK Grotesk"/>
                  <a:ea typeface="HK Grotesk"/>
                  <a:cs typeface="HK Grotesk"/>
                  <a:sym typeface="HK Grotesk"/>
                </a:rPr>
                <a:t>oaf can be stored at room temperature, well-wrapped, for several days.</a:t>
              </a:r>
            </a:p>
            <a:p>
              <a:pPr algn="l">
                <a:lnSpc>
                  <a:spcPts val="3079"/>
                </a:lnSpc>
              </a:pPr>
            </a:p>
            <a:p>
              <a:pPr algn="l">
                <a:lnSpc>
                  <a:spcPts val="3079"/>
                </a:lnSpc>
              </a:pPr>
              <a:r>
                <a:rPr lang="en-US" sz="2199">
                  <a:solidFill>
                    <a:srgbClr val="000000"/>
                  </a:solidFill>
                  <a:latin typeface="HK Grotesk"/>
                  <a:ea typeface="HK Grotesk"/>
                  <a:cs typeface="HK Grotesk"/>
                  <a:sym typeface="HK Grotesk"/>
                </a:rPr>
                <a:t>Freeze for longer storage.</a:t>
              </a:r>
            </a:p>
          </p:txBody>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5F5EF"/>
        </a:solidFill>
      </p:bgPr>
    </p:bg>
    <p:spTree>
      <p:nvGrpSpPr>
        <p:cNvPr id="1" name=""/>
        <p:cNvGrpSpPr/>
        <p:nvPr/>
      </p:nvGrpSpPr>
      <p:grpSpPr>
        <a:xfrm>
          <a:off x="0" y="0"/>
          <a:ext cx="0" cy="0"/>
          <a:chOff x="0" y="0"/>
          <a:chExt cx="0" cy="0"/>
        </a:xfrm>
      </p:grpSpPr>
      <p:sp>
        <p:nvSpPr>
          <p:cNvPr name="Freeform 2" id="2" descr="Babka ingredients."/>
          <p:cNvSpPr/>
          <p:nvPr/>
        </p:nvSpPr>
        <p:spPr>
          <a:xfrm flipH="false" flipV="false" rot="0">
            <a:off x="951206" y="1420749"/>
            <a:ext cx="2737534" cy="3344299"/>
          </a:xfrm>
          <a:custGeom>
            <a:avLst/>
            <a:gdLst/>
            <a:ahLst/>
            <a:cxnLst/>
            <a:rect r="r" b="b" t="t" l="l"/>
            <a:pathLst>
              <a:path h="3344299" w="2737534">
                <a:moveTo>
                  <a:pt x="0" y="0"/>
                </a:moveTo>
                <a:lnTo>
                  <a:pt x="2737533" y="0"/>
                </a:lnTo>
                <a:lnTo>
                  <a:pt x="2737533" y="3344300"/>
                </a:lnTo>
                <a:lnTo>
                  <a:pt x="0" y="3344300"/>
                </a:lnTo>
                <a:lnTo>
                  <a:pt x="0" y="0"/>
                </a:lnTo>
                <a:close/>
              </a:path>
            </a:pathLst>
          </a:custGeom>
          <a:blipFill>
            <a:blip r:embed="rId2"/>
            <a:stretch>
              <a:fillRect l="-17317" t="0" r="-17317" b="0"/>
            </a:stretch>
          </a:blipFill>
          <a:ln w="9525" cap="sq">
            <a:solidFill>
              <a:srgbClr val="000000"/>
            </a:solidFill>
            <a:prstDash val="solid"/>
            <a:miter/>
          </a:ln>
        </p:spPr>
      </p:sp>
      <p:sp>
        <p:nvSpPr>
          <p:cNvPr name="TextBox 3" id="3"/>
          <p:cNvSpPr txBox="true"/>
          <p:nvPr/>
        </p:nvSpPr>
        <p:spPr>
          <a:xfrm rot="0">
            <a:off x="4384065" y="496702"/>
            <a:ext cx="7757974" cy="596900"/>
          </a:xfrm>
          <a:prstGeom prst="rect">
            <a:avLst/>
          </a:prstGeom>
        </p:spPr>
        <p:txBody>
          <a:bodyPr anchor="t" rtlCol="false" tIns="0" lIns="0" bIns="0" rIns="0">
            <a:spAutoFit/>
          </a:bodyPr>
          <a:lstStyle/>
          <a:p>
            <a:pPr algn="l">
              <a:lnSpc>
                <a:spcPts val="4900"/>
              </a:lnSpc>
            </a:pPr>
            <a:r>
              <a:rPr lang="en-US" sz="3500">
                <a:solidFill>
                  <a:srgbClr val="000000"/>
                </a:solidFill>
                <a:latin typeface="Hammersmith One"/>
                <a:ea typeface="Hammersmith One"/>
                <a:cs typeface="Hammersmith One"/>
                <a:sym typeface="Hammersmith One"/>
              </a:rPr>
              <a:t>INGREDIENT NOTES</a:t>
            </a:r>
          </a:p>
        </p:txBody>
      </p:sp>
      <p:sp>
        <p:nvSpPr>
          <p:cNvPr name="TextBox 4" id="4"/>
          <p:cNvSpPr txBox="true"/>
          <p:nvPr/>
        </p:nvSpPr>
        <p:spPr>
          <a:xfrm rot="0">
            <a:off x="4112240" y="417327"/>
            <a:ext cx="7757974" cy="6265545"/>
          </a:xfrm>
          <a:prstGeom prst="rect">
            <a:avLst/>
          </a:prstGeom>
        </p:spPr>
        <p:txBody>
          <a:bodyPr anchor="t" rtlCol="false" tIns="0" lIns="0" bIns="0" rIns="0">
            <a:spAutoFit/>
          </a:bodyPr>
          <a:lstStyle/>
          <a:p>
            <a:pPr algn="l">
              <a:lnSpc>
                <a:spcPts val="3079"/>
              </a:lnSpc>
            </a:pPr>
          </a:p>
          <a:p>
            <a:pPr algn="l">
              <a:lnSpc>
                <a:spcPts val="3079"/>
              </a:lnSpc>
            </a:pPr>
          </a:p>
          <a:p>
            <a:pPr algn="l" marL="474979" indent="-237490" lvl="1">
              <a:lnSpc>
                <a:spcPts val="3079"/>
              </a:lnSpc>
              <a:buFont typeface="Arial"/>
              <a:buChar char="•"/>
            </a:pPr>
            <a:r>
              <a:rPr lang="en-US" sz="2199">
                <a:solidFill>
                  <a:srgbClr val="000000"/>
                </a:solidFill>
                <a:latin typeface="HK Grotesk"/>
                <a:ea typeface="HK Grotesk"/>
                <a:cs typeface="HK Grotesk"/>
                <a:sym typeface="HK Grotesk"/>
              </a:rPr>
              <a:t>Lowfat milk can be used instead of whole milk.</a:t>
            </a:r>
          </a:p>
          <a:p>
            <a:pPr algn="l" marL="474979" indent="-237490" lvl="1">
              <a:lnSpc>
                <a:spcPts val="3079"/>
              </a:lnSpc>
              <a:buFont typeface="Arial"/>
              <a:buChar char="•"/>
            </a:pPr>
            <a:r>
              <a:rPr lang="en-US" sz="2199">
                <a:solidFill>
                  <a:srgbClr val="000000"/>
                </a:solidFill>
                <a:latin typeface="HK Grotesk"/>
                <a:ea typeface="HK Grotesk"/>
                <a:cs typeface="HK Grotesk"/>
                <a:sym typeface="HK Grotesk"/>
              </a:rPr>
              <a:t>Liquids should be at room temperature. If liquids are cold, leave at room temperature for 1 hour, or microwave for 10 seconds. </a:t>
            </a:r>
          </a:p>
          <a:p>
            <a:pPr algn="l" marL="474979" indent="-237490" lvl="1">
              <a:lnSpc>
                <a:spcPts val="3079"/>
              </a:lnSpc>
              <a:buFont typeface="Arial"/>
              <a:buChar char="•"/>
            </a:pPr>
            <a:r>
              <a:rPr lang="en-US" sz="2199">
                <a:solidFill>
                  <a:srgbClr val="000000"/>
                </a:solidFill>
                <a:latin typeface="HK Grotesk"/>
                <a:ea typeface="HK Grotesk"/>
                <a:cs typeface="HK Grotesk"/>
                <a:sym typeface="HK Grotesk"/>
              </a:rPr>
              <a:t>When appropriate, ingredient weights are provided in addition to volume.  Weighing ingredients is more accurate and preferred. However, the bread will still be delicious if ingredients are measured with measuring cups and spoons.</a:t>
            </a:r>
          </a:p>
          <a:p>
            <a:pPr algn="l" marL="474979" indent="-237490" lvl="1">
              <a:lnSpc>
                <a:spcPts val="3079"/>
              </a:lnSpc>
              <a:buFont typeface="Arial"/>
              <a:buChar char="•"/>
            </a:pPr>
            <a:r>
              <a:rPr lang="en-US" sz="2199">
                <a:solidFill>
                  <a:srgbClr val="000000"/>
                </a:solidFill>
                <a:latin typeface="HK Grotesk"/>
                <a:ea typeface="HK Grotesk"/>
                <a:cs typeface="HK Grotesk"/>
                <a:sym typeface="HK Grotesk"/>
              </a:rPr>
              <a:t>Bread flour may be used instead of all-purpose flour.</a:t>
            </a:r>
            <a:r>
              <a:rPr lang="en-US" sz="2199">
                <a:solidFill>
                  <a:srgbClr val="000000"/>
                </a:solidFill>
                <a:latin typeface="HK Grotesk"/>
                <a:ea typeface="HK Grotesk"/>
                <a:cs typeface="HK Grotesk"/>
                <a:sym typeface="HK Grotesk"/>
              </a:rPr>
              <a:t> </a:t>
            </a:r>
          </a:p>
          <a:p>
            <a:pPr algn="l" marL="474979" indent="-237490" lvl="1">
              <a:lnSpc>
                <a:spcPts val="3079"/>
              </a:lnSpc>
              <a:buFont typeface="Arial"/>
              <a:buChar char="•"/>
            </a:pPr>
            <a:r>
              <a:rPr lang="en-US" sz="2199">
                <a:solidFill>
                  <a:srgbClr val="000000"/>
                </a:solidFill>
                <a:latin typeface="HK Grotesk"/>
                <a:ea typeface="HK Grotesk"/>
                <a:cs typeface="HK Grotesk"/>
                <a:sym typeface="HK Grotesk"/>
              </a:rPr>
              <a:t>If potato flour is not available, substitute additional all-purpose flour instead. </a:t>
            </a:r>
          </a:p>
          <a:p>
            <a:pPr algn="l" marL="474979" indent="-237490" lvl="1">
              <a:lnSpc>
                <a:spcPts val="3079"/>
              </a:lnSpc>
              <a:buFont typeface="Arial"/>
              <a:buChar char="•"/>
            </a:pPr>
            <a:r>
              <a:rPr lang="en-US" sz="2199">
                <a:solidFill>
                  <a:srgbClr val="000000"/>
                </a:solidFill>
                <a:latin typeface="HK Grotesk"/>
                <a:ea typeface="HK Grotesk"/>
                <a:cs typeface="HK Grotesk"/>
                <a:sym typeface="HK Grotesk"/>
              </a:rPr>
              <a:t>To </a:t>
            </a:r>
            <a:r>
              <a:rPr lang="en-US" sz="2199">
                <a:solidFill>
                  <a:srgbClr val="000000"/>
                </a:solidFill>
                <a:latin typeface="HK Grotesk"/>
                <a:ea typeface="HK Grotesk"/>
                <a:cs typeface="HK Grotesk"/>
                <a:sym typeface="HK Grotesk"/>
              </a:rPr>
              <a:t>soften butter, leave at room temperature for at least 1 hour, or microwave for 10 seconds. </a:t>
            </a:r>
          </a:p>
          <a:p>
            <a:pPr algn="l">
              <a:lnSpc>
                <a:spcPts val="2380"/>
              </a:lnSpc>
            </a:pP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5F5EF"/>
        </a:solidFill>
      </p:bgPr>
    </p:bg>
    <p:spTree>
      <p:nvGrpSpPr>
        <p:cNvPr id="1" name=""/>
        <p:cNvGrpSpPr/>
        <p:nvPr/>
      </p:nvGrpSpPr>
      <p:grpSpPr>
        <a:xfrm>
          <a:off x="0" y="0"/>
          <a:ext cx="0" cy="0"/>
          <a:chOff x="0" y="0"/>
          <a:chExt cx="0" cy="0"/>
        </a:xfrm>
      </p:grpSpPr>
      <p:sp>
        <p:nvSpPr>
          <p:cNvPr name="Freeform 2" id="2" descr="Cinnamon babka loaf."/>
          <p:cNvSpPr/>
          <p:nvPr/>
        </p:nvSpPr>
        <p:spPr>
          <a:xfrm flipH="false" flipV="false" rot="0">
            <a:off x="731520" y="1262130"/>
            <a:ext cx="2737534" cy="3344299"/>
          </a:xfrm>
          <a:custGeom>
            <a:avLst/>
            <a:gdLst/>
            <a:ahLst/>
            <a:cxnLst/>
            <a:rect r="r" b="b" t="t" l="l"/>
            <a:pathLst>
              <a:path h="3344299" w="2737534">
                <a:moveTo>
                  <a:pt x="0" y="0"/>
                </a:moveTo>
                <a:lnTo>
                  <a:pt x="2737534" y="0"/>
                </a:lnTo>
                <a:lnTo>
                  <a:pt x="2737534" y="3344300"/>
                </a:lnTo>
                <a:lnTo>
                  <a:pt x="0" y="3344300"/>
                </a:lnTo>
                <a:lnTo>
                  <a:pt x="0" y="0"/>
                </a:lnTo>
                <a:close/>
              </a:path>
            </a:pathLst>
          </a:custGeom>
          <a:blipFill>
            <a:blip r:embed="rId2"/>
            <a:stretch>
              <a:fillRect l="0" t="-22849" r="0" b="-22849"/>
            </a:stretch>
          </a:blipFill>
          <a:ln w="9525" cap="sq">
            <a:solidFill>
              <a:srgbClr val="000000"/>
            </a:solidFill>
            <a:prstDash val="solid"/>
            <a:miter/>
          </a:ln>
        </p:spPr>
      </p:sp>
      <p:grpSp>
        <p:nvGrpSpPr>
          <p:cNvPr name="Group 3" id="3"/>
          <p:cNvGrpSpPr/>
          <p:nvPr/>
        </p:nvGrpSpPr>
        <p:grpSpPr>
          <a:xfrm rot="0">
            <a:off x="4190129" y="636270"/>
            <a:ext cx="7826770" cy="3279512"/>
            <a:chOff x="0" y="0"/>
            <a:chExt cx="10435693" cy="4372682"/>
          </a:xfrm>
        </p:grpSpPr>
        <p:sp>
          <p:nvSpPr>
            <p:cNvPr name="TextBox 4" id="4"/>
            <p:cNvSpPr txBox="true"/>
            <p:nvPr/>
          </p:nvSpPr>
          <p:spPr>
            <a:xfrm rot="0">
              <a:off x="0" y="-66675"/>
              <a:ext cx="10435693" cy="773642"/>
            </a:xfrm>
            <a:prstGeom prst="rect">
              <a:avLst/>
            </a:prstGeom>
          </p:spPr>
          <p:txBody>
            <a:bodyPr anchor="t" rtlCol="false" tIns="0" lIns="0" bIns="0" rIns="0">
              <a:spAutoFit/>
            </a:bodyPr>
            <a:lstStyle/>
            <a:p>
              <a:pPr algn="l">
                <a:lnSpc>
                  <a:spcPts val="4900"/>
                </a:lnSpc>
              </a:pPr>
            </a:p>
          </p:txBody>
        </p:sp>
        <p:sp>
          <p:nvSpPr>
            <p:cNvPr name="TextBox 5" id="5"/>
            <p:cNvSpPr txBox="true"/>
            <p:nvPr/>
          </p:nvSpPr>
          <p:spPr>
            <a:xfrm rot="0">
              <a:off x="0" y="979877"/>
              <a:ext cx="10435693" cy="3392805"/>
            </a:xfrm>
            <a:prstGeom prst="rect">
              <a:avLst/>
            </a:prstGeom>
          </p:spPr>
          <p:txBody>
            <a:bodyPr anchor="t" rtlCol="false" tIns="0" lIns="0" bIns="0" rIns="0">
              <a:spAutoFit/>
            </a:bodyPr>
            <a:lstStyle/>
            <a:p>
              <a:pPr algn="l" marL="431801" indent="-215900" lvl="1">
                <a:lnSpc>
                  <a:spcPts val="2800"/>
                </a:lnSpc>
                <a:buFont typeface="Arial"/>
                <a:buChar char="•"/>
              </a:pPr>
              <a:r>
                <a:rPr lang="en-US" sz="2000">
                  <a:solidFill>
                    <a:srgbClr val="000000"/>
                  </a:solidFill>
                  <a:latin typeface="HK Grotesk"/>
                  <a:ea typeface="HK Grotesk"/>
                  <a:cs typeface="HK Grotesk"/>
                  <a:sym typeface="HK Grotesk"/>
                </a:rPr>
                <a:t>The dough may still be a bit sticky when it is done being kneaded.  What’s important is that the dough appears much smoother than it did before it was kneaded. </a:t>
              </a:r>
              <a:r>
                <a:rPr lang="en-US" sz="2000">
                  <a:solidFill>
                    <a:srgbClr val="000000"/>
                  </a:solidFill>
                  <a:latin typeface="HK Grotesk"/>
                  <a:ea typeface="HK Grotesk"/>
                  <a:cs typeface="HK Grotesk"/>
                  <a:sym typeface="HK Grotesk"/>
                </a:rPr>
                <a:t> </a:t>
              </a:r>
            </a:p>
            <a:p>
              <a:pPr algn="l" marL="431801" indent="-215900" lvl="1">
                <a:lnSpc>
                  <a:spcPts val="2800"/>
                </a:lnSpc>
                <a:buFont typeface="Arial"/>
                <a:buChar char="•"/>
              </a:pPr>
              <a:r>
                <a:rPr lang="en-US" sz="2000">
                  <a:solidFill>
                    <a:srgbClr val="000000"/>
                  </a:solidFill>
                  <a:latin typeface="HK Grotesk"/>
                  <a:ea typeface="HK Grotesk"/>
                  <a:cs typeface="HK Grotesk"/>
                  <a:sym typeface="HK Grotesk"/>
                </a:rPr>
                <a:t>Your dough will rise faster in warmer temperatures, slower in cooler temperatures.</a:t>
              </a:r>
            </a:p>
            <a:p>
              <a:pPr algn="l" marL="431801" indent="-215900" lvl="1">
                <a:lnSpc>
                  <a:spcPts val="2800"/>
                </a:lnSpc>
                <a:buFont typeface="Arial"/>
                <a:buChar char="•"/>
              </a:pPr>
              <a:r>
                <a:rPr lang="en-US" sz="2000">
                  <a:solidFill>
                    <a:srgbClr val="000000"/>
                  </a:solidFill>
                  <a:latin typeface="HK Grotesk"/>
                  <a:ea typeface="HK Grotesk"/>
                  <a:cs typeface="HK Grotesk"/>
                  <a:sym typeface="HK Grotesk"/>
                </a:rPr>
                <a:t>If an offset spatula is not available, a knife can be used instead.</a:t>
              </a:r>
            </a:p>
            <a:p>
              <a:pPr algn="l">
                <a:lnSpc>
                  <a:spcPts val="3079"/>
                </a:lnSpc>
              </a:pPr>
            </a:p>
          </p:txBody>
        </p:sp>
      </p:grpSp>
      <p:sp>
        <p:nvSpPr>
          <p:cNvPr name="TextBox 6" id="6"/>
          <p:cNvSpPr txBox="true"/>
          <p:nvPr/>
        </p:nvSpPr>
        <p:spPr>
          <a:xfrm rot="0">
            <a:off x="4384065" y="496702"/>
            <a:ext cx="7757974" cy="596900"/>
          </a:xfrm>
          <a:prstGeom prst="rect">
            <a:avLst/>
          </a:prstGeom>
        </p:spPr>
        <p:txBody>
          <a:bodyPr anchor="t" rtlCol="false" tIns="0" lIns="0" bIns="0" rIns="0">
            <a:spAutoFit/>
          </a:bodyPr>
          <a:lstStyle/>
          <a:p>
            <a:pPr algn="l">
              <a:lnSpc>
                <a:spcPts val="4900"/>
              </a:lnSpc>
            </a:pPr>
            <a:r>
              <a:rPr lang="en-US" sz="3500">
                <a:solidFill>
                  <a:srgbClr val="000000"/>
                </a:solidFill>
                <a:latin typeface="Hammersmith One"/>
                <a:ea typeface="Hammersmith One"/>
                <a:cs typeface="Hammersmith One"/>
                <a:sym typeface="Hammersmith One"/>
              </a:rPr>
              <a:t>ADDITIONAL NOTES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description>Recipe for a cinnamon babka, designed for the beginning baker.</dc:description>
  <dc:identifier>DAGVjp_lPkI</dc:identifier>
  <dcterms:modified xsi:type="dcterms:W3CDTF">2011-08-01T06:04:30Z</dcterms:modified>
  <cp:revision>1</cp:revision>
  <dc:title>Cinnamon Babka</dc:title>
</cp:coreProperties>
</file>